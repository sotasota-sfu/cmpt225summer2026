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F5066A-D50F-BE44-ADBB-8542143105DD}" v="621" dt="2026-07-21T03:39:54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01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08DC-5712-9B31-D6C2-5BFECEE84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79EA0-A220-90F1-77F3-735E78C0E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B2A5-E32E-BF12-61C2-0DF9740B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CD118-905B-9924-A98E-630F1E5C7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20E9E-9A8F-CA66-9F6F-69875299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8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F791-95CD-F354-C1F8-E6DFF6B7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9ED66-A221-5F04-973C-3CD156D6D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E0576-7C28-C2A9-3E16-F7C09341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A7C0C-CBD4-720D-7CF5-557C19DB8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208A6-3CA7-401C-ED11-55497C9D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6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EC73-512F-FB16-7439-43FC1DD1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63D5F-3400-2C40-5CF3-BBD7260D9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B1E5D-9A21-380D-BC86-D8496F1B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64470-29E1-C741-868E-E120ECA6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63FCE-335D-26AE-EEFF-2458968B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60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8766-01D1-4B09-4507-93EEA741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9B315-B0C7-FC90-B784-5DC4B86B0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30F83-FDBE-0718-05F4-A39F9D4AD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D7CC0-9064-1299-B4A0-CB459F6A1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4915F-449F-689E-D6AC-5C476685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0FEFA-4C47-1A94-24E7-62971743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4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0A3A-65EE-8E10-B77D-D09B592A0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32F02-040C-8423-88C8-835570302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A896A-4C16-883D-5F0C-7B6FF0902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3B051F-48B8-C4B0-D0BA-592720966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D6B7C8-0066-D347-51B9-5D1202989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41E57-914C-4FD8-2638-5F2F010E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917D64-1B47-0C2E-FF85-CA571585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559152-7ABA-CA30-9F5D-A096604B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08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30ED-A477-AF83-0DA1-8ED52C34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678D4-E715-DB03-2EFA-89BB9136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B8F9A-8A09-8A8F-123B-38271736D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F30A9-4EFA-0CE7-A697-7999BBB6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0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FE275-3D2D-7D26-9D5A-40E86A03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6B132-2E91-12F3-174D-C765352C7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927AC-5849-02F5-B236-8DADA330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1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9598-B2E6-58B7-19AD-C183CB8A7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477C-E32C-C0DE-2FB7-867E8FD99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49049-29A6-6C31-CD55-D12A8604D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B7766-B70D-4E13-272B-7455D778C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C382D-6A78-D8F2-4835-C65B3B1A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D7863-94C0-BA45-1113-95D70752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3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3765-51E4-CD95-EA0D-2E9FDC3C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603C7-D18E-22ED-5757-D6870B8A6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63153-F0E4-0BF6-327F-A3E47C21E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BA50B-E3DF-EB36-C06E-462F9CA4E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92E35-5852-1601-FDC3-220CD397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E20D4-7E85-0491-A4A5-0FF8F637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6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365F-2166-1EB3-3899-45D7A546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442EB-D082-46B0-5150-C86F334F2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C7C6D-C478-D3E2-99D6-A1A26F6A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AD051-2C93-13F1-F27D-5D37E025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19A8-A0E9-8365-DE89-87B334FC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2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25D54F-FC0B-CB14-8DF1-CFC22CC97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CDFAF-17BB-163D-5299-5DFEEE0E8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43475-CD31-147A-FAEF-DEDE9136E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1B02F-43DB-A76B-5178-9CA7CFCE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F05DC-FCD6-8562-B734-D4161B4A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0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16BA4-C939-365D-926E-DE42EBB8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93FB-1931-AC07-24BA-DA7CA2C5D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899A-41C1-A6B6-B361-A4FADD099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721F6-712F-E943-B5C8-C03A6A3C658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C2079-1DE0-9260-0C72-2DCA6C84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766F7-5318-D66C-B31A-4654B35AD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3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4011-44E6-E6CC-E2D9-CD84F33E0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03720" y="738038"/>
            <a:ext cx="9144000" cy="2387600"/>
          </a:xfrm>
        </p:spPr>
        <p:txBody>
          <a:bodyPr/>
          <a:lstStyle/>
          <a:p>
            <a:r>
              <a:rPr lang="en-US" dirty="0"/>
              <a:t>Fibonacci </a:t>
            </a:r>
            <a:br>
              <a:rPr lang="en-US" dirty="0"/>
            </a:br>
            <a:r>
              <a:rPr lang="en-US" dirty="0"/>
              <a:t>Numbers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B53E-28B3-480E-7DE8-77EA39CC2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03720" y="3217713"/>
            <a:ext cx="9144000" cy="1655762"/>
          </a:xfrm>
        </p:spPr>
        <p:txBody>
          <a:bodyPr/>
          <a:lstStyle/>
          <a:p>
            <a:r>
              <a:rPr lang="en-US" dirty="0"/>
              <a:t>CMPT 225, Summer 2026</a:t>
            </a:r>
          </a:p>
        </p:txBody>
      </p:sp>
      <p:pic>
        <p:nvPicPr>
          <p:cNvPr id="5" name="Picture 4" descr="The nature of design: the Fibonacci sequence and the Golden ...">
            <a:extLst>
              <a:ext uri="{FF2B5EF4-FFF2-40B4-BE49-F238E27FC236}">
                <a16:creationId xmlns:a16="http://schemas.microsoft.com/office/drawing/2014/main" id="{6F6DD6C7-3688-3CC4-4850-DF75B8B3C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529" y="561791"/>
            <a:ext cx="6985593" cy="523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3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688E3-956A-48E2-EAFE-DDD245819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F026F-6601-739C-8518-F2597C766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205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A149-55F4-F9D5-6118-C5CADF814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87F22-6964-80F0-9A17-9F465E05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52C83-B403-7980-7C2D-675B31965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53281-DDB4-18EC-580A-167469E29065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B7EB07-0F54-09AE-ADFA-51C204603BED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B72BB0-2DD5-2582-9728-19837BECB882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FDA1AEA-A65B-5EE5-B27F-BE74CCBE9061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C7343F80-4C0A-F5B6-2C31-3A0471E253D5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92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A2309-9AA1-C46E-5AC9-C829378A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64478-D873-3F88-2B52-333342E0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E4418-A341-8F92-76F3-16BB82D56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608FE-57AA-0935-E784-36442963164B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EB298A-E651-6D5F-0CAE-4CD34F5AF5EA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08C35A-A5BC-6B71-DA08-5AFC28D1B900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D477A4-5EA4-D4F5-70B4-DC10841DE542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A0242AD9-2461-B620-4797-BF7825D341D5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546DC9-8B58-7494-78E4-55CBF882DBA0}"/>
                  </a:ext>
                </a:extLst>
              </p:cNvPr>
              <p:cNvSpPr txBox="1"/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546DC9-8B58-7494-78E4-55CBF882D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blipFill>
                <a:blip r:embed="rId2"/>
                <a:stretch>
                  <a:fillRect l="-2414" t="-32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381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2B32B-77A7-D8EC-ADAE-45AB1ED7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E0B0C-FDA8-2A56-C40F-840F8FA0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D5B01-B1BB-48D7-3FAD-EF8836306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65A33-7A12-5541-F90C-DDE901906B5D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35D61A-EF4C-D465-DC67-4AD79A4A669E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4FFC04-AB92-0911-63DE-D55D7BFB4750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476A3E0-1D10-342D-ABF0-F6067EE4EAB8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7E0FC09B-0354-D1E2-603F-906FB1B0CBDA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35534B-49F5-1A67-37D1-A3FB7A5ADA44}"/>
                  </a:ext>
                </a:extLst>
              </p:cNvPr>
              <p:cNvSpPr txBox="1"/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35534B-49F5-1A67-37D1-A3FB7A5AD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blipFill>
                <a:blip r:embed="rId2"/>
                <a:stretch>
                  <a:fillRect l="-2414" t="-32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63A78F-6640-743F-0C7E-BA3C388DC6BB}"/>
                  </a:ext>
                </a:extLst>
              </p:cNvPr>
              <p:cNvSpPr txBox="1"/>
              <p:nvPr/>
            </p:nvSpPr>
            <p:spPr>
              <a:xfrm>
                <a:off x="7272472" y="2883314"/>
                <a:ext cx="4635638" cy="369331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Some computer science applications of the Fibonacci sequence: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min # of nodes in an </a:t>
                </a:r>
                <a:r>
                  <a:rPr lang="en-US" b="1" dirty="0"/>
                  <a:t>AVL tree </a:t>
                </a:r>
                <a:r>
                  <a:rPr lang="en-US" dirty="0"/>
                  <a:t>of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dirty="0"/>
                  <a:t> is related to the Fibonacci numbers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Fibonacci heaps </a:t>
                </a:r>
                <a:r>
                  <a:rPr lang="en-US" dirty="0"/>
                  <a:t>are used in high-performance implementations of priority queues (e.g. for Dijkstra’s algorithm)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Fibonacci numbers often appear in graphs, e.g. Fibonacci spirals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pair of numbers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require the maximum number of steps to find their greatest common divisor (GCD) using Euclid’s algorithm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63A78F-6640-743F-0C7E-BA3C388DC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472" y="2883314"/>
                <a:ext cx="4635638" cy="3693319"/>
              </a:xfrm>
              <a:prstGeom prst="rect">
                <a:avLst/>
              </a:prstGeom>
              <a:blipFill>
                <a:blip r:embed="rId3"/>
                <a:stretch>
                  <a:fillRect l="-1093" t="-341" r="-1913" b="-136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977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6A93-FDCA-0D36-39AB-2C730361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ED25B-86D4-81D7-4042-80E21477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0089D-6781-DA3A-096D-8D25E012D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608B86-4616-0971-AF01-F14F55888F76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75CB81-2328-2A71-2DD4-6A97717B2513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4B90BF-D010-C42A-1062-C98F31D768A8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3405D93-B5B3-9B98-31E8-EB513B0A0777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5FFADAC-864B-8A84-1B34-0709BD1FAF9D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5D584F-974D-38CD-A3E8-45024FA49F3A}"/>
                  </a:ext>
                </a:extLst>
              </p:cNvPr>
              <p:cNvSpPr txBox="1"/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5D584F-974D-38CD-A3E8-45024FA49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blipFill>
                <a:blip r:embed="rId2"/>
                <a:stretch>
                  <a:fillRect l="-2414" t="-32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184C34-3E81-FD41-359D-7D0A1F4F9877}"/>
                  </a:ext>
                </a:extLst>
              </p:cNvPr>
              <p:cNvSpPr txBox="1"/>
              <p:nvPr/>
            </p:nvSpPr>
            <p:spPr>
              <a:xfrm>
                <a:off x="7523268" y="2895580"/>
                <a:ext cx="4019342" cy="341632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 the following for: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:r>
                  <a:rPr lang="en-CA" dirty="0"/>
                  <a:t>    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CA" dirty="0"/>
              </a:p>
              <a:p>
                <a:pPr/>
                <a:r>
                  <a:rPr lang="en-CA" dirty="0"/>
                  <a:t>    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pPr/>
                <a:endParaRPr lang="en-US" dirty="0"/>
              </a:p>
              <a:p>
                <a:pPr/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, and so roughly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b="0" dirty="0"/>
                  <a:t>(calculate some values to check this!).</a:t>
                </a:r>
              </a:p>
              <a:p>
                <a:pPr/>
                <a:endParaRPr lang="en-US" dirty="0"/>
              </a:p>
              <a:p>
                <a:pPr/>
                <a:r>
                  <a:rPr lang="en-US" dirty="0"/>
                  <a:t>This shows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CA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b="1" dirty="0"/>
                  <a:t> grows, at most, exponentially</a:t>
                </a:r>
                <a:r>
                  <a:rPr lang="en-US" dirty="0"/>
                  <a:t> (with base 2).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184C34-3E81-FD41-359D-7D0A1F4F9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268" y="2895580"/>
                <a:ext cx="4019342" cy="3416320"/>
              </a:xfrm>
              <a:prstGeom prst="rect">
                <a:avLst/>
              </a:prstGeom>
              <a:blipFill>
                <a:blip r:embed="rId3"/>
                <a:stretch>
                  <a:fillRect l="-940" t="-369" b="-147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737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23E97-F9BC-50BE-9F9E-32E03B7D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D5BF-5B65-201B-84AB-BF699615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036F3-CE99-05D7-9CB5-CC7277864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92DBC-D451-78C7-4D56-31C6DDA7485B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DE3441-3163-4171-5EA8-045BB1BACA69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F92FF1-A7DE-FAB6-D30E-1534A444EE69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E040EB-31CE-DF33-F6BA-37F41745DF35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213F6CA2-25C3-7CA3-F0C6-DBCD04AC54C2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DDEEFC-173D-22AE-DB98-E7127B59A85A}"/>
                  </a:ext>
                </a:extLst>
              </p:cNvPr>
              <p:cNvSpPr txBox="1"/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DDEEFC-173D-22AE-DB98-E7127B59A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blipFill>
                <a:blip r:embed="rId2"/>
                <a:stretch>
                  <a:fillRect l="-2414" t="-32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D69E4E-8222-A49E-D966-A7B889200136}"/>
                  </a:ext>
                </a:extLst>
              </p:cNvPr>
              <p:cNvSpPr txBox="1"/>
              <p:nvPr/>
            </p:nvSpPr>
            <p:spPr>
              <a:xfrm>
                <a:off x="7523268" y="2895580"/>
                <a:ext cx="4293594" cy="36616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Going the other way,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CA" dirty="0"/>
                  <a:t>    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endParaRPr lang="en-CA" dirty="0"/>
              </a:p>
              <a:p>
                <a:r>
                  <a:rPr lang="en-CA" dirty="0"/>
                  <a:t>    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/>
                <a:r>
                  <a:rPr lang="en-US" dirty="0"/>
                  <a:t>By repeated substitution we get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CA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CA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:endParaRPr lang="en-US" dirty="0"/>
              </a:p>
              <a:p>
                <a:pPr/>
                <a:r>
                  <a:rPr lang="en-US" dirty="0"/>
                  <a:t>This takes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applications, and plugging that in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CA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A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CA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CA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1=</m:t>
                    </m:r>
                    <m:sSup>
                      <m:sSupPr>
                        <m:ctrlP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CA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  <m:sup>
                        <m:r>
                          <a:rPr lang="en-CA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/>
                <a:r>
                  <a:rPr lang="en-US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grows at least as fast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CA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  <m:sup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D69E4E-8222-A49E-D966-A7B889200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268" y="2895580"/>
                <a:ext cx="4293594" cy="3661643"/>
              </a:xfrm>
              <a:prstGeom prst="rect">
                <a:avLst/>
              </a:prstGeom>
              <a:blipFill>
                <a:blip r:embed="rId3"/>
                <a:stretch>
                  <a:fillRect l="-882" t="-345" b="-172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7B7406A-0A72-A708-99A6-3ED4B5547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342" y="4454134"/>
            <a:ext cx="20955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80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9D9DE-353C-DF89-562C-B5F4E892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275D-4785-F851-6195-92181B7B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9C89C-A2F4-A295-EC08-A3B38D6B4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58135-D433-FC75-3CF3-3675C108CECD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2498F7-17C6-5ABC-7C3C-C5481F67DB35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8B1388-8246-822E-4FE9-7614900616B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A51CD8-4F10-A6A8-BB61-03BF15CD887C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A1B5BA3-D150-9FFC-8EA7-2E3D88C1A7FE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9048E9-FA0F-5943-34C7-28ACC4385D58}"/>
                  </a:ext>
                </a:extLst>
              </p:cNvPr>
              <p:cNvSpPr txBox="1"/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9048E9-FA0F-5943-34C7-28ACC4385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blipFill>
                <a:blip r:embed="rId2"/>
                <a:stretch>
                  <a:fillRect l="-2414" t="-32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00D472-92EC-1E5B-59B2-277F8302AD89}"/>
                  </a:ext>
                </a:extLst>
              </p:cNvPr>
              <p:cNvSpPr txBox="1"/>
              <p:nvPr/>
            </p:nvSpPr>
            <p:spPr>
              <a:xfrm>
                <a:off x="7523268" y="2895580"/>
                <a:ext cx="4293594" cy="356719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So we have two things: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CA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  <m:sup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dirty="0"/>
                  <a:t>So combining them: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CA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sup>
                              <m:r>
                                <a:rPr lang="en-CA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:endParaRPr lang="en-US" dirty="0"/>
              </a:p>
              <a:p>
                <a:pPr/>
                <a:r>
                  <a:rPr lang="en-US" dirty="0"/>
                  <a:t>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CA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≈1.41</m:t>
                    </m:r>
                  </m:oMath>
                </a14:m>
                <a:r>
                  <a:rPr lang="en-US" dirty="0"/>
                  <a:t>, we get: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CA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(1.141)</m:t>
                              </m:r>
                            </m:e>
                            <m:sup>
                              <m:r>
                                <a:rPr lang="en-CA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:endParaRPr lang="en-US" dirty="0"/>
              </a:p>
              <a:p>
                <a:pPr/>
                <a:r>
                  <a:rPr lang="en-US" dirty="0"/>
                  <a:t>The exact value </a:t>
                </a:r>
                <a:r>
                  <a:rPr lang="en-CA" dirty="0"/>
                  <a:t>is </a:t>
                </a:r>
                <a:r>
                  <a:rPr lang="en-US" dirty="0"/>
                  <a:t>…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00D472-92EC-1E5B-59B2-277F8302A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268" y="2895580"/>
                <a:ext cx="4293594" cy="3567195"/>
              </a:xfrm>
              <a:prstGeom prst="rect">
                <a:avLst/>
              </a:prstGeom>
              <a:blipFill>
                <a:blip r:embed="rId3"/>
                <a:stretch>
                  <a:fillRect l="-882" t="-35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9FEA63C-2370-8E3C-BE73-3C60A0DA3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342" y="4454134"/>
            <a:ext cx="20955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8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4B5A8-0B18-380B-1B00-780823B4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C9249-A618-A797-7137-0DBE334F0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C957B-8BD0-5D79-C9C2-52162FEE9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82DDF-4E6C-23BA-0253-C9337C9D0AD9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7FA564-B9C3-FCE6-2278-6DF5DC817ECD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04BCE3-4098-DB72-E7FA-EB0893C3A220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6C7DA8B-8BAF-2B59-AAA4-0E19A4843344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BFDB0370-3C9E-AE53-1A79-CB518C186F76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FE409F-B65A-3B33-2889-3DF5D9B96B88}"/>
                  </a:ext>
                </a:extLst>
              </p:cNvPr>
              <p:cNvSpPr txBox="1"/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FE409F-B65A-3B33-2889-3DF5D9B96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blipFill>
                <a:blip r:embed="rId2"/>
                <a:stretch>
                  <a:fillRect l="-2414" t="-32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5EF73273-1111-1AB9-811F-35520B00E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18" y="4471455"/>
            <a:ext cx="3048000" cy="838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FDC338-4A15-AC22-9CCC-CA9EF74D8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368" y="5536605"/>
            <a:ext cx="3441700" cy="939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BCB90D-7A7F-1E71-5240-8E93FAC6C988}"/>
                  </a:ext>
                </a:extLst>
              </p:cNvPr>
              <p:cNvSpPr txBox="1"/>
              <p:nvPr/>
            </p:nvSpPr>
            <p:spPr>
              <a:xfrm>
                <a:off x="10336837" y="5131367"/>
                <a:ext cx="1656303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golden ratio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BCB90D-7A7F-1E71-5240-8E93FAC6C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6837" y="5131367"/>
                <a:ext cx="1656303" cy="646331"/>
              </a:xfrm>
              <a:prstGeom prst="rect">
                <a:avLst/>
              </a:prstGeom>
              <a:blipFill>
                <a:blip r:embed="rId5"/>
                <a:stretch>
                  <a:fillRect t="-5769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31AB89D-AE88-B404-BCC5-B7B065C8420D}"/>
              </a:ext>
            </a:extLst>
          </p:cNvPr>
          <p:cNvSpPr txBox="1"/>
          <p:nvPr/>
        </p:nvSpPr>
        <p:spPr>
          <a:xfrm>
            <a:off x="10336837" y="3802681"/>
            <a:ext cx="165630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Exponential!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4FD9ED-6F20-B4DF-5BCE-2C04048F8463}"/>
              </a:ext>
            </a:extLst>
          </p:cNvPr>
          <p:cNvCxnSpPr>
            <a:cxnSpLocks/>
          </p:cNvCxnSpPr>
          <p:nvPr/>
        </p:nvCxnSpPr>
        <p:spPr>
          <a:xfrm flipH="1">
            <a:off x="9701623" y="4172013"/>
            <a:ext cx="635214" cy="491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192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3D66-F349-71A8-3099-50260B87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8AD88-3696-1A28-66F1-6692409D9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Fibonacci sequence can easily be programmed using it’s recursive definition</a:t>
            </a:r>
          </a:p>
          <a:p>
            <a:pPr lvl="1"/>
            <a:r>
              <a:rPr lang="en-US" dirty="0"/>
              <a:t>But it does an exponential number of recursive calls!</a:t>
            </a:r>
          </a:p>
          <a:p>
            <a:r>
              <a:rPr lang="en-US" dirty="0"/>
              <a:t>A non-recursive version using a loop is much faster</a:t>
            </a:r>
          </a:p>
          <a:p>
            <a:pPr lvl="1"/>
            <a:r>
              <a:rPr lang="en-US" dirty="0"/>
              <a:t>But the is trickier to get right</a:t>
            </a:r>
          </a:p>
          <a:p>
            <a:r>
              <a:rPr lang="en-US" dirty="0"/>
              <a:t>An interesting technique that can speed up the recursive version (at the cost of using more memory) is </a:t>
            </a:r>
            <a:r>
              <a:rPr lang="en-US" b="1" dirty="0"/>
              <a:t>memoization</a:t>
            </a:r>
          </a:p>
          <a:p>
            <a:pPr lvl="1"/>
            <a:r>
              <a:rPr lang="en-US" dirty="0"/>
              <a:t>memoization is an example of a general technique called </a:t>
            </a:r>
            <a:r>
              <a:rPr lang="en-US" b="1" dirty="0"/>
              <a:t>dynamic programming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6081D-FAFC-3757-EECF-486A15470CD5}"/>
              </a:ext>
            </a:extLst>
          </p:cNvPr>
          <p:cNvSpPr txBox="1"/>
          <p:nvPr/>
        </p:nvSpPr>
        <p:spPr>
          <a:xfrm>
            <a:off x="9756951" y="566241"/>
            <a:ext cx="187904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See the online code for working examples.</a:t>
            </a:r>
          </a:p>
        </p:txBody>
      </p:sp>
    </p:spTree>
    <p:extLst>
      <p:ext uri="{BB962C8B-B14F-4D97-AF65-F5344CB8AC3E}">
        <p14:creationId xmlns:p14="http://schemas.microsoft.com/office/powerpoint/2010/main" val="2673447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825</Words>
  <Application>Microsoft Macintosh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Fibonacci  Numbers</vt:lpstr>
      <vt:lpstr>The Fibonacci Sequence</vt:lpstr>
      <vt:lpstr>The Fibonacci Sequence</vt:lpstr>
      <vt:lpstr>The Fibonacci Sequence</vt:lpstr>
      <vt:lpstr>The Fibonacci Sequence</vt:lpstr>
      <vt:lpstr>The Fibonacci Sequence</vt:lpstr>
      <vt:lpstr>The Fibonacci Sequence</vt:lpstr>
      <vt:lpstr>The Fibonacci Sequence</vt:lpstr>
      <vt:lpstr>The Fibonacci Sequence</vt:lpstr>
      <vt:lpstr>Coding the Fibonacci Sequence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2026-07-21T02:42:20Z</dcterms:created>
  <dcterms:modified xsi:type="dcterms:W3CDTF">2026-07-21T03:40:32Z</dcterms:modified>
</cp:coreProperties>
</file>
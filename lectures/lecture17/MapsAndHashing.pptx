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8" r:id="rId22"/>
    <p:sldId id="277" r:id="rId23"/>
    <p:sldId id="279" r:id="rId24"/>
    <p:sldId id="280" r:id="rId25"/>
    <p:sldId id="281" r:id="rId26"/>
    <p:sldId id="286" r:id="rId27"/>
    <p:sldId id="287" r:id="rId28"/>
    <p:sldId id="282" r:id="rId29"/>
    <p:sldId id="283" r:id="rId30"/>
    <p:sldId id="284" r:id="rId31"/>
    <p:sldId id="28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4120B7-E79F-894A-85DF-E38C1A5747FE}" v="1465" dt="2026-06-23T20:03:03.3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69"/>
    <p:restoredTop sz="96301"/>
  </p:normalViewPr>
  <p:slideViewPr>
    <p:cSldViewPr snapToGrid="0">
      <p:cViewPr varScale="1">
        <p:scale>
          <a:sx n="127" d="100"/>
          <a:sy n="127" d="100"/>
        </p:scale>
        <p:origin x="4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BC33E-6421-001F-2552-FBAF73D1A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ED2ED8-A083-8F2A-3C66-403F7DC558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25B92-BFEF-D62C-A5DA-8674CC528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8C5D5-2684-319E-E749-27B1743AC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62AA2-6E1F-B68B-3150-B61888C6B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3CD87-76C7-FA9E-02B7-3F3C1DBC2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6808E-2A80-1C91-48C0-B79E8F291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6ADC8-458C-A579-07AA-936EA9505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422EF-184C-16F1-E414-B616182F6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147E2-3C5A-631B-D342-6895C6254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96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EA0C2-FFE6-0288-4BE9-7F6C466C7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9FB25-0E6F-9B2E-F8A9-79AFE2892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7A592-D52F-B6C3-F6A8-416192C50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1D570-B5F1-B133-018E-35216E73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D6505-E94B-0C65-7040-B917FAB49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59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81009-61EB-6DEE-F8B4-DCF27F2C7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712E4-0D21-5648-62D7-CBB444C91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3169C-121C-B425-6209-E0BE1605B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6878C-47C2-6E60-0672-9A89B23F1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E3C7B-147F-809F-61C9-C0DB96AA3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E4512-7284-EBAE-9691-2926A90A0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33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E75A1-8D74-A241-91DE-8A624AEF1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351D9-4BCA-4069-1AFB-FA7E1708C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412C2-4DF9-EDE2-0E9C-1148DDF23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220E72-3299-6375-909F-DDD8186D95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667C14-5244-94F0-C9E8-639D1DAB2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6A688D-30E8-90FD-6CB4-BC25BD0B4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E055B7-119E-E057-5F1C-1EE11C126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E9155D-B0B9-8208-0A01-9480B9A56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05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E1FD-A2FC-81FA-C453-C227FA7A3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18D583-2377-3E13-AA19-AA3AC883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1B43F-48F2-B756-FA35-877D22695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EE54B9-6D8A-0E90-BD4F-409E9C12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13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B19D86-8E20-CD77-1F80-5651F9AD6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CFE015-D9E2-4DFF-1464-11881C1C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120D0-097C-24AA-0161-A3AFB0E1B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722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06188-E448-A378-3AC0-2F067057B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C432D-A4AB-1FF7-5D58-E3886C916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27735-57B3-7D20-790B-4611A43C9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AC7E7-AA54-BF34-682B-7519C4BEB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283AE-DB60-D141-7E8C-6457CF1CF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358A39-A42E-E492-C19F-89D2F110D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38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5BC11-3AC6-9190-2648-7B1C97640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428340-EE3A-8C86-0703-D830078D55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362A5-FC07-F961-0AC7-6705DE9E6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1C3B8-4F51-01DE-430F-63C4B2CE7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4129B-A642-B29F-647C-E4F70D0B6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A4C7D-3B1E-CF9B-6ACC-72EE5B06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824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36E3F-7B29-B605-8FC4-02CD600B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50EEF1-D245-9C75-3D2B-CFDEF5322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AB5F2-5ABD-A762-0078-9A426E9AF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884CE-AC4E-4BAC-D040-D008F301C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9613B-67D6-7C5E-C635-819F01C9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97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AC8768-883D-DA07-6DE0-9F3209A02B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F65955-971F-7191-C3BA-F66519D5A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28BE7-C91A-BEA1-6324-2B9B787C4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FD6B9-5BDF-22C6-5119-DFC1DBC9C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18872-35A8-9E25-1626-D4D440484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42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3A8239-DA68-EC19-D151-9A0867843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E265B-06CC-F360-F6E0-DEE840D10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75655-A024-82FE-A710-7FBA3F09B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B3F0-1EE5-4D45-9882-6059E7C6D02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BD266-8302-9CC8-B5FE-887D44F142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BE9A6-8B2E-C1B8-530A-D05A84B7C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53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A3A52-9C4F-676A-549D-DDD6E2B61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Maps and Hashing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107A4-06A5-9E02-14AC-D090833681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Chp</a:t>
            </a:r>
            <a:r>
              <a:rPr lang="en-US" dirty="0"/>
              <a:t> 9.1, 9.2 of textbook</a:t>
            </a:r>
          </a:p>
          <a:p>
            <a:r>
              <a:rPr lang="en-US" dirty="0"/>
              <a:t>(we are skipping </a:t>
            </a:r>
            <a:r>
              <a:rPr lang="en-US" dirty="0" err="1"/>
              <a:t>skiplists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13951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20EE-AE82-843D-CF1A-7293AA07E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5AA14A-0A73-A031-2FCF-8946584D64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Why are heaps height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The Map ADT</a:t>
                </a:r>
              </a:p>
              <a:p>
                <a:r>
                  <a:rPr lang="en-US" dirty="0"/>
                  <a:t>Hash tables</a:t>
                </a:r>
              </a:p>
              <a:p>
                <a:r>
                  <a:rPr lang="en-US" dirty="0"/>
                  <a:t>Bucket arrays</a:t>
                </a:r>
              </a:p>
              <a:p>
                <a:r>
                  <a:rPr lang="en-US" dirty="0"/>
                  <a:t>Hash functions</a:t>
                </a:r>
              </a:p>
              <a:p>
                <a:r>
                  <a:rPr lang="en-US" dirty="0"/>
                  <a:t>Hash codes</a:t>
                </a:r>
              </a:p>
              <a:p>
                <a:pPr lvl="1"/>
                <a:r>
                  <a:rPr lang="en-US" dirty="0"/>
                  <a:t>Polynomial hash codes</a:t>
                </a:r>
              </a:p>
              <a:p>
                <a:r>
                  <a:rPr lang="en-US" dirty="0"/>
                  <a:t>Collision resolution schemes</a:t>
                </a:r>
              </a:p>
              <a:p>
                <a:pPr lvl="1"/>
                <a:r>
                  <a:rPr lang="en-US" dirty="0"/>
                  <a:t>Linear probing</a:t>
                </a:r>
              </a:p>
              <a:p>
                <a:pPr lvl="1"/>
                <a:r>
                  <a:rPr lang="en-US" dirty="0"/>
                  <a:t>Quadratic probing</a:t>
                </a:r>
              </a:p>
              <a:p>
                <a:pPr lvl="1"/>
                <a:r>
                  <a:rPr lang="en-US" dirty="0"/>
                  <a:t>Double hashing</a:t>
                </a:r>
              </a:p>
              <a:p>
                <a:pPr lvl="1"/>
                <a:r>
                  <a:rPr lang="en-US" dirty="0"/>
                  <a:t>Load factors and rehashing</a:t>
                </a:r>
              </a:p>
              <a:p>
                <a:pPr lvl="1"/>
                <a:r>
                  <a:rPr lang="en-US" dirty="0"/>
                  <a:t>Deletion with tombstones</a:t>
                </a:r>
              </a:p>
              <a:p>
                <a:r>
                  <a:rPr lang="en-US" dirty="0"/>
                  <a:t>Hash tables in practice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5AA14A-0A73-A031-2FCF-8946584D64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8742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62E61BC-3BAE-3BB0-49D9-78488839A3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Why Are Heaps height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?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62E61BC-3BAE-3BB0-49D9-78488839A3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C0F48B-B380-4251-F7BA-F921B6C0BB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 </a:t>
                </a:r>
                <a:r>
                  <a:rPr lang="en-US" b="1" dirty="0"/>
                  <a:t>perfect binary tree </a:t>
                </a:r>
                <a:r>
                  <a:rPr lang="en-US" dirty="0"/>
                  <a:t>of height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can has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nodes</a:t>
                </a:r>
              </a:p>
              <a:p>
                <a:pPr lvl="1"/>
                <a:r>
                  <a:rPr lang="en-US" dirty="0"/>
                  <a:t>Check this by counting nodes in examples … the pattern should be clear</a:t>
                </a:r>
              </a:p>
              <a:p>
                <a:r>
                  <a:rPr lang="en-US" dirty="0"/>
                  <a:t>A </a:t>
                </a:r>
                <a:r>
                  <a:rPr lang="en-US" b="1" dirty="0"/>
                  <a:t>complete binary tree </a:t>
                </a:r>
                <a:r>
                  <a:rPr lang="en-US" dirty="0"/>
                  <a:t>of height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has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nodes</a:t>
                </a:r>
              </a:p>
              <a:p>
                <a:r>
                  <a:rPr lang="en-US" dirty="0"/>
                  <a:t>Therefore: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CA" b="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CA" b="0" dirty="0"/>
              </a:p>
              <a:p>
                <a:r>
                  <a:rPr lang="en-US" dirty="0"/>
                  <a:t>Take log base 2 of all terms of the inequality to get: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Therefore: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C0F48B-B380-4251-F7BA-F921B6C0BB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91824A-8A1B-1E60-E3EE-6E03EA2819D3}"/>
                  </a:ext>
                </a:extLst>
              </p:cNvPr>
              <p:cNvSpPr txBox="1"/>
              <p:nvPr/>
            </p:nvSpPr>
            <p:spPr>
              <a:xfrm>
                <a:off x="5034225" y="3214138"/>
                <a:ext cx="2331218" cy="92333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the number of nodes in a complete binary tree of height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91824A-8A1B-1E60-E3EE-6E03EA281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4225" y="3214138"/>
                <a:ext cx="2331218" cy="923330"/>
              </a:xfrm>
              <a:prstGeom prst="rect">
                <a:avLst/>
              </a:prstGeom>
              <a:blipFill>
                <a:blip r:embed="rId4"/>
                <a:stretch>
                  <a:fillRect l="-1630" t="-1351" r="-1087"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 4">
            <a:extLst>
              <a:ext uri="{FF2B5EF4-FFF2-40B4-BE49-F238E27FC236}">
                <a16:creationId xmlns:a16="http://schemas.microsoft.com/office/drawing/2014/main" id="{17E68C73-5AB0-5278-E90B-0B41FBD4AECD}"/>
              </a:ext>
            </a:extLst>
          </p:cNvPr>
          <p:cNvSpPr/>
          <p:nvPr/>
        </p:nvSpPr>
        <p:spPr>
          <a:xfrm>
            <a:off x="2461847" y="3214138"/>
            <a:ext cx="2572378" cy="615849"/>
          </a:xfrm>
          <a:custGeom>
            <a:avLst/>
            <a:gdLst>
              <a:gd name="csX0" fmla="*/ 2572378 w 2572378"/>
              <a:gd name="csY0" fmla="*/ 123480 h 615849"/>
              <a:gd name="csX1" fmla="*/ 1115367 w 2572378"/>
              <a:gd name="csY1" fmla="*/ 33045 h 615849"/>
              <a:gd name="csX2" fmla="*/ 0 w 2572378"/>
              <a:gd name="csY2" fmla="*/ 615849 h 6158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572378" h="615849">
                <a:moveTo>
                  <a:pt x="2572378" y="123480"/>
                </a:moveTo>
                <a:cubicBezTo>
                  <a:pt x="2058237" y="37232"/>
                  <a:pt x="1544097" y="-49016"/>
                  <a:pt x="1115367" y="33045"/>
                </a:cubicBezTo>
                <a:cubicBezTo>
                  <a:pt x="686637" y="115106"/>
                  <a:pt x="343318" y="365477"/>
                  <a:pt x="0" y="615849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F191AF-5649-3F68-B501-31D02B1B4660}"/>
                  </a:ext>
                </a:extLst>
              </p:cNvPr>
              <p:cNvSpPr txBox="1"/>
              <p:nvPr/>
            </p:nvSpPr>
            <p:spPr>
              <a:xfrm>
                <a:off x="5034224" y="5525981"/>
                <a:ext cx="2572377" cy="92333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Recall that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means </a:t>
                </a:r>
                <a:r>
                  <a:rPr lang="en-US" b="1" dirty="0"/>
                  <a:t>floor</a:t>
                </a:r>
                <a:r>
                  <a:rPr lang="en-US" dirty="0"/>
                  <a:t>, i.e. chop of any digits after the decimal.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F191AF-5649-3F68-B501-31D02B1B4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4224" y="5525981"/>
                <a:ext cx="2572377" cy="923330"/>
              </a:xfrm>
              <a:prstGeom prst="rect">
                <a:avLst/>
              </a:prstGeom>
              <a:blipFill>
                <a:blip r:embed="rId5"/>
                <a:stretch>
                  <a:fillRect l="-490" t="-2703"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845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B25DA-8535-8DC4-20D1-A6E16163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Map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DABEA-989D-0642-33F8-AFA91FA2C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39119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The Map ADT specifies a mini “database”</a:t>
            </a:r>
          </a:p>
          <a:p>
            <a:r>
              <a:rPr lang="en-US" dirty="0"/>
              <a:t>It stores (</a:t>
            </a:r>
            <a:r>
              <a:rPr lang="en-US" b="1" dirty="0"/>
              <a:t>key</a:t>
            </a:r>
            <a:r>
              <a:rPr lang="en-US" dirty="0"/>
              <a:t>, </a:t>
            </a:r>
            <a:r>
              <a:rPr lang="en-US" b="1" dirty="0"/>
              <a:t>value</a:t>
            </a:r>
            <a:r>
              <a:rPr lang="en-US" dirty="0"/>
              <a:t>) pairs</a:t>
            </a:r>
          </a:p>
          <a:p>
            <a:pPr lvl="1"/>
            <a:r>
              <a:rPr lang="en-US" dirty="0"/>
              <a:t>You can assume </a:t>
            </a:r>
            <a:r>
              <a:rPr lang="en-US" b="1" dirty="0"/>
              <a:t>key</a:t>
            </a:r>
            <a:r>
              <a:rPr lang="en-US" dirty="0"/>
              <a:t> is an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/>
              <a:t>, but as we will see it can be any “</a:t>
            </a:r>
            <a:r>
              <a:rPr lang="en-US" dirty="0" err="1"/>
              <a:t>hashable</a:t>
            </a:r>
            <a:r>
              <a:rPr lang="en-US" dirty="0"/>
              <a:t>” type</a:t>
            </a:r>
          </a:p>
          <a:p>
            <a:pPr lvl="1"/>
            <a:r>
              <a:rPr lang="en-US" dirty="0"/>
              <a:t>We assume </a:t>
            </a:r>
            <a:r>
              <a:rPr lang="en-US" b="1" dirty="0"/>
              <a:t>value</a:t>
            </a:r>
            <a:r>
              <a:rPr lang="en-US" dirty="0"/>
              <a:t> of any type </a:t>
            </a:r>
            <a:r>
              <a:rPr lang="en-US" b="1" dirty="0"/>
              <a:t>T</a:t>
            </a:r>
          </a:p>
          <a:p>
            <a:r>
              <a:rPr lang="en-US" dirty="0"/>
              <a:t>You add/remove/retrieve by using the key</a:t>
            </a:r>
          </a:p>
          <a:p>
            <a:r>
              <a:rPr lang="en-US" dirty="0"/>
              <a:t>If done right, it can be extremely fast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BB3D97-1BDE-EFF6-5B04-2B72BD728F88}"/>
              </a:ext>
            </a:extLst>
          </p:cNvPr>
          <p:cNvSpPr txBox="1"/>
          <p:nvPr/>
        </p:nvSpPr>
        <p:spPr>
          <a:xfrm>
            <a:off x="6256774" y="723482"/>
            <a:ext cx="534907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size()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is_empty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// O(1) as usual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returns the value associated with key;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error if there is no such key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T find(key)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// returns value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puts (key, value) in the map; 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if key is already in the map,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overwrite the value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void put(key, T value)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removes the pair associated with key 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from the map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void remove(key)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700107-ACD1-1101-E3EF-622D76E1C60B}"/>
              </a:ext>
            </a:extLst>
          </p:cNvPr>
          <p:cNvSpPr txBox="1"/>
          <p:nvPr/>
        </p:nvSpPr>
        <p:spPr>
          <a:xfrm>
            <a:off x="6400799" y="5015547"/>
            <a:ext cx="527538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Designing a good practical map ADT is surprisingly challenging. A significant (and popular) feature of Python is that maps are part of the base language instead of an add-on from a library. So Python’s maps tend to be easier to use than C++ maps.</a:t>
            </a:r>
          </a:p>
        </p:txBody>
      </p:sp>
    </p:spTree>
    <p:extLst>
      <p:ext uri="{BB962C8B-B14F-4D97-AF65-F5344CB8AC3E}">
        <p14:creationId xmlns:p14="http://schemas.microsoft.com/office/powerpoint/2010/main" val="3878808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258DE-F9F0-644F-884F-3BF2BC2A7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Map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79D6A-3225-46B7-2319-DE3375188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03382" cy="4351338"/>
          </a:xfrm>
        </p:spPr>
        <p:txBody>
          <a:bodyPr>
            <a:normAutofit/>
          </a:bodyPr>
          <a:lstStyle/>
          <a:p>
            <a:r>
              <a:rPr lang="en-US" dirty="0"/>
              <a:t>An array of (key, value) pairs</a:t>
            </a:r>
          </a:p>
          <a:p>
            <a:r>
              <a:rPr lang="en-US" dirty="0"/>
              <a:t>Unordered pairs:</a:t>
            </a:r>
          </a:p>
          <a:p>
            <a:pPr lvl="1"/>
            <a:r>
              <a:rPr lang="en-US" dirty="0"/>
              <a:t>find(key):</a:t>
            </a:r>
          </a:p>
          <a:p>
            <a:pPr lvl="1"/>
            <a:r>
              <a:rPr lang="en-US" dirty="0"/>
              <a:t>put(key, value): </a:t>
            </a:r>
          </a:p>
          <a:p>
            <a:pPr lvl="1"/>
            <a:r>
              <a:rPr lang="en-US" dirty="0"/>
              <a:t>remove: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D718EE-B7E6-0C95-3886-C60D4209607C}"/>
              </a:ext>
            </a:extLst>
          </p:cNvPr>
          <p:cNvSpPr txBox="1"/>
          <p:nvPr/>
        </p:nvSpPr>
        <p:spPr>
          <a:xfrm>
            <a:off x="7661031" y="1614611"/>
            <a:ext cx="44564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{("hamburger", 4.99), 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("hot dog", 3.99), 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("soup", 3.99), 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("fries", 1.99)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5849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8FB64-39C6-4E2E-F106-C4C99C1BD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C38C3-92F1-5D0F-716E-C8B3613B9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Map Implementation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38069D-59BB-37CE-9B9E-FCDA76E539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80338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An array of (key, value) pairs</a:t>
                </a:r>
              </a:p>
              <a:p>
                <a:r>
                  <a:rPr lang="en-US" dirty="0"/>
                  <a:t>Unordered pairs:</a:t>
                </a:r>
              </a:p>
              <a:p>
                <a:pPr lvl="1"/>
                <a:r>
                  <a:rPr lang="en-US" dirty="0"/>
                  <a:t>find(key): </a:t>
                </a:r>
                <a14:m>
                  <m:oMath xmlns:m="http://schemas.openxmlformats.org/officeDocument/2006/math"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highlight>
                      <a:srgbClr val="FFFF00"/>
                    </a:highlight>
                  </a:rPr>
                  <a:t> using linear search</a:t>
                </a:r>
              </a:p>
              <a:p>
                <a:pPr lvl="1"/>
                <a:r>
                  <a:rPr lang="en-US" dirty="0"/>
                  <a:t>put(key, value): </a:t>
                </a:r>
                <a14:m>
                  <m:oMath xmlns:m="http://schemas.openxmlformats.org/officeDocument/2006/math"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highlight>
                    <a:srgbClr val="FFFF00"/>
                  </a:highlight>
                </a:endParaRPr>
              </a:p>
              <a:p>
                <a:pPr lvl="1"/>
                <a:r>
                  <a:rPr lang="en-US" dirty="0"/>
                  <a:t>remove: </a:t>
                </a:r>
                <a14:m>
                  <m:oMath xmlns:m="http://schemas.openxmlformats.org/officeDocument/2006/math"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highlight>
                    <a:srgbClr val="FFFF00"/>
                  </a:highlight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38069D-59BB-37CE-9B9E-FCDA76E539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803382" cy="4351338"/>
              </a:xfrm>
              <a:blipFill>
                <a:blip r:embed="rId2"/>
                <a:stretch>
                  <a:fillRect l="-1463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26FDBF4-3E7C-8DA3-A4A4-D7B6DD288C57}"/>
              </a:ext>
            </a:extLst>
          </p:cNvPr>
          <p:cNvSpPr txBox="1"/>
          <p:nvPr/>
        </p:nvSpPr>
        <p:spPr>
          <a:xfrm>
            <a:off x="7661031" y="1614611"/>
            <a:ext cx="44564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{("hamburger", 4.99), 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("hot dog", 3.99), 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("soup", 3.99), 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("fries", 1.99)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45462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B02A3-FB7D-EA29-0A4F-14BE7F729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EF84B-7B4A-4D28-1D55-6D810BF87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Map Implementation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9064F9-0FA7-A5F3-1220-228881F049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80338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An array of (key, value) pairs</a:t>
                </a:r>
              </a:p>
              <a:p>
                <a:r>
                  <a:rPr lang="en-US" dirty="0"/>
                  <a:t>Unordered pairs:</a:t>
                </a:r>
              </a:p>
              <a:p>
                <a:pPr lvl="1"/>
                <a:r>
                  <a:rPr lang="en-US" dirty="0"/>
                  <a:t>find(key):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using linear search</a:t>
                </a:r>
              </a:p>
              <a:p>
                <a:pPr lvl="1"/>
                <a:r>
                  <a:rPr lang="en-US" dirty="0"/>
                  <a:t>put(key, value):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remove: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Ordering the pairs alphabetically by keys:</a:t>
                </a:r>
              </a:p>
              <a:p>
                <a:pPr lvl="1"/>
                <a:r>
                  <a:rPr lang="en-US" dirty="0"/>
                  <a:t>find(key):</a:t>
                </a:r>
              </a:p>
              <a:p>
                <a:pPr lvl="1"/>
                <a:r>
                  <a:rPr lang="en-US" dirty="0"/>
                  <a:t>put(key, value):</a:t>
                </a:r>
              </a:p>
              <a:p>
                <a:pPr lvl="1"/>
                <a:r>
                  <a:rPr lang="en-US" dirty="0"/>
                  <a:t>remove: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9064F9-0FA7-A5F3-1220-228881F049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803382" cy="4351338"/>
              </a:xfrm>
              <a:blipFill>
                <a:blip r:embed="rId2"/>
                <a:stretch>
                  <a:fillRect l="-1463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A412F4C-B059-24ED-6844-12C47455E49E}"/>
              </a:ext>
            </a:extLst>
          </p:cNvPr>
          <p:cNvSpPr txBox="1"/>
          <p:nvPr/>
        </p:nvSpPr>
        <p:spPr>
          <a:xfrm>
            <a:off x="7661031" y="1614611"/>
            <a:ext cx="44564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{("hamburger", 4.99), 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("hot dog", 3.99), 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("soup", 3.99), 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("fries", 1.99)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26371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C401E-A9EC-48B0-428C-4DA2623A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87256-7AFF-3DFE-4207-EC63287B0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Map Implementation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B39F9F-9565-3837-BDF2-6988C58794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80338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An array of (key, value) pairs</a:t>
                </a:r>
              </a:p>
              <a:p>
                <a:r>
                  <a:rPr lang="en-US" dirty="0"/>
                  <a:t>Unordered pairs:</a:t>
                </a:r>
              </a:p>
              <a:p>
                <a:pPr lvl="1"/>
                <a:r>
                  <a:rPr lang="en-US" dirty="0"/>
                  <a:t>find(key):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using linear search</a:t>
                </a:r>
              </a:p>
              <a:p>
                <a:pPr lvl="1"/>
                <a:r>
                  <a:rPr lang="en-US" dirty="0"/>
                  <a:t>put(key, value):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remove: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Ordering the pairs alphabetically by keys:</a:t>
                </a:r>
              </a:p>
              <a:p>
                <a:pPr lvl="1"/>
                <a:r>
                  <a:rPr lang="en-US" dirty="0"/>
                  <a:t>find(key): </a:t>
                </a:r>
                <a14:m>
                  <m:oMath xmlns:m="http://schemas.openxmlformats.org/officeDocument/2006/math"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highlight>
                      <a:srgbClr val="FFFF00"/>
                    </a:highlight>
                  </a:rPr>
                  <a:t> using binary search</a:t>
                </a:r>
              </a:p>
              <a:p>
                <a:pPr lvl="1"/>
                <a:r>
                  <a:rPr lang="en-US" dirty="0"/>
                  <a:t>put(key, value): </a:t>
                </a:r>
                <a14:m>
                  <m:oMath xmlns:m="http://schemas.openxmlformats.org/officeDocument/2006/math"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highlight>
                      <a:srgbClr val="FFFF00"/>
                    </a:highlight>
                  </a:rPr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highlight>
                    <a:srgbClr val="FFFF00"/>
                  </a:highlight>
                </a:endParaRPr>
              </a:p>
              <a:p>
                <a:pPr lvl="1"/>
                <a:r>
                  <a:rPr lang="en-US" dirty="0"/>
                  <a:t>remove: </a:t>
                </a:r>
                <a14:m>
                  <m:oMath xmlns:m="http://schemas.openxmlformats.org/officeDocument/2006/math"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 dirty="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 dirty="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 dirty="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CA" b="0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highlight>
                      <a:srgbClr val="FFFF00"/>
                    </a:highlight>
                  </a:rPr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highlight>
                    <a:srgbClr val="FFFF00"/>
                  </a:highlight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B39F9F-9565-3837-BDF2-6988C58794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803382" cy="4351338"/>
              </a:xfrm>
              <a:blipFill>
                <a:blip r:embed="rId2"/>
                <a:stretch>
                  <a:fillRect l="-1463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0523DD3-CC0D-0CA7-C225-70A6EE88F6AA}"/>
              </a:ext>
            </a:extLst>
          </p:cNvPr>
          <p:cNvSpPr txBox="1"/>
          <p:nvPr/>
        </p:nvSpPr>
        <p:spPr>
          <a:xfrm>
            <a:off x="7661031" y="1614611"/>
            <a:ext cx="44564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{("hamburger", 4.99), 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("hot dog", 3.99), 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("soup", 3.99), 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("fries", 1.99)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74768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42B94-C408-8274-3924-8085E3D52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3DD7D5-C8B0-75F5-A5CD-D4C47BDC01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Hash tables </a:t>
                </a:r>
                <a:r>
                  <a:rPr lang="en-US" dirty="0"/>
                  <a:t>are an efficient and popular way to implement maps</a:t>
                </a:r>
              </a:p>
              <a:p>
                <a:pPr lvl="1"/>
                <a:r>
                  <a:rPr lang="en-US" dirty="0"/>
                  <a:t>In practice, they can achieve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performance for find/put/remove</a:t>
                </a:r>
              </a:p>
              <a:p>
                <a:r>
                  <a:rPr lang="en-US" dirty="0"/>
                  <a:t>The main idea</a:t>
                </a:r>
              </a:p>
              <a:p>
                <a:pPr lvl="1"/>
                <a:r>
                  <a:rPr lang="en-US" dirty="0"/>
                  <a:t>Essentially store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𝑘𝑒𝑦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𝑣𝑎𝑙𝑢𝑒</m:t>
                    </m:r>
                  </m:oMath>
                </a14:m>
                <a:r>
                  <a:rPr lang="en-US" dirty="0"/>
                  <a:t>) at location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an array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is a </a:t>
                </a:r>
                <a:r>
                  <a:rPr lang="en-US" b="1" dirty="0"/>
                  <a:t>hash function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returns a numeric value of where the value is stored in the array</a:t>
                </a:r>
              </a:p>
              <a:p>
                <a:pPr lvl="1"/>
                <a:r>
                  <a:rPr lang="en-US" dirty="0"/>
                  <a:t>It’s possible two different keys could have the same hash value</a:t>
                </a:r>
              </a:p>
              <a:p>
                <a:pPr lvl="1"/>
                <a:r>
                  <a:rPr lang="en-US" dirty="0"/>
                  <a:t>So somehow a hash table must deal with such </a:t>
                </a:r>
                <a:r>
                  <a:rPr lang="en-US" b="1" dirty="0"/>
                  <a:t>collisions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3DD7D5-C8B0-75F5-A5CD-D4C47BDC0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0276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2C576-EB87-7173-4935-50E4D214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Bucket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FF9F6-78FA-F77D-D83E-9A4AFFE67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an array of “buckets”</a:t>
            </a:r>
          </a:p>
          <a:p>
            <a:pPr lvl="1"/>
            <a:r>
              <a:rPr lang="en-US" dirty="0"/>
              <a:t>E.g. the buckets could be implemented as linked lists</a:t>
            </a:r>
          </a:p>
          <a:p>
            <a:r>
              <a:rPr lang="en-US" dirty="0"/>
              <a:t>Each location of the array can store 0 or more items</a:t>
            </a:r>
          </a:p>
          <a:p>
            <a:pPr lvl="1"/>
            <a:r>
              <a:rPr lang="en-US" dirty="0"/>
              <a:t>If the bucket is big, maybe spend a lot time searching it</a:t>
            </a:r>
          </a:p>
          <a:p>
            <a:pPr lvl="1"/>
            <a:r>
              <a:rPr lang="en-US" dirty="0"/>
              <a:t>If the array is big, could be a lot of wasted space</a:t>
            </a:r>
          </a:p>
          <a:p>
            <a:pPr lvl="1"/>
            <a:r>
              <a:rPr lang="en-US" dirty="0"/>
              <a:t>Requires keys are index values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0C6E5-053F-64FF-4F6F-67DE9F999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176" y="4396669"/>
            <a:ext cx="8192149" cy="231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219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434C70F-00DD-4A6B-BDCE-E3B2D757998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Hash Functions: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434C70F-00DD-4A6B-BDCE-E3B2D75799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BA60F1-5994-CD78-80F5-609E10202B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5831" y="1805528"/>
                <a:ext cx="6939224" cy="4351338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A hash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converts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𝑘𝑒𝑦</m:t>
                    </m:r>
                  </m:oMath>
                </a14:m>
                <a:r>
                  <a:rPr lang="en-US" dirty="0"/>
                  <a:t> to an integer</a:t>
                </a:r>
              </a:p>
              <a:p>
                <a:pPr lvl="1"/>
                <a:r>
                  <a:rPr lang="en-US" dirty="0"/>
                  <a:t>The key could be string, another number, a record, etc.</a:t>
                </a:r>
              </a:p>
              <a:p>
                <a:r>
                  <a:rPr lang="en-US" dirty="0"/>
                  <a:t>Two main goals for a good hash function for maps</a:t>
                </a:r>
              </a:p>
              <a:p>
                <a:pPr lvl="1"/>
                <a:r>
                  <a:rPr lang="en-US" dirty="0"/>
                  <a:t>Fast</a:t>
                </a:r>
              </a:p>
              <a:p>
                <a:pPr lvl="1"/>
                <a:r>
                  <a:rPr lang="en-US" dirty="0"/>
                  <a:t>Produces a wide variety of values (that look random)</a:t>
                </a:r>
              </a:p>
              <a:p>
                <a:r>
                  <a:rPr lang="en-US" dirty="0"/>
                  <a:t>We also need a </a:t>
                </a:r>
                <a:r>
                  <a:rPr lang="en-US" b="1" dirty="0"/>
                  <a:t>compression function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returns an integer, which could be negative or outside the bounds of the underlying array</a:t>
                </a:r>
              </a:p>
              <a:p>
                <a:pPr lvl="1"/>
                <a:r>
                  <a:rPr lang="en-US" dirty="0"/>
                  <a:t>The compression function “squishes”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be in the range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[0,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, the index values of the array</a:t>
                </a:r>
              </a:p>
              <a:p>
                <a:pPr lvl="1"/>
                <a:r>
                  <a:rPr lang="en-US" dirty="0"/>
                  <a:t>E.g.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𝑐𝑜𝑚𝑝𝑟𝑒𝑠𝑠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)=|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BA60F1-5994-CD78-80F5-609E10202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5831" y="1805528"/>
                <a:ext cx="6939224" cy="4351338"/>
              </a:xfrm>
              <a:blipFill>
                <a:blip r:embed="rId3"/>
                <a:stretch>
                  <a:fillRect l="-1280" t="-2624" r="-3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0B8C2F8-88E9-65B4-2E6F-A2A6C391F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055" y="1690688"/>
            <a:ext cx="49022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12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11C65-E6DF-47A1-339C-899429027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Hash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DAD8A-E502-74B9-B16B-C881D9404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common hash function strategy for </a:t>
            </a:r>
            <a:r>
              <a:rPr lang="en-US" b="1" dirty="0"/>
              <a:t>strings</a:t>
            </a:r>
            <a:r>
              <a:rPr lang="en-US" dirty="0"/>
              <a:t> is</a:t>
            </a:r>
          </a:p>
          <a:p>
            <a:pPr lvl="1"/>
            <a:r>
              <a:rPr lang="en-US" dirty="0"/>
              <a:t>Convert the characters to their Unicode/ASCII code values</a:t>
            </a:r>
          </a:p>
          <a:p>
            <a:pPr lvl="1"/>
            <a:r>
              <a:rPr lang="en-US" dirty="0"/>
              <a:t>Somehow combine those values with a mathematical formula to get the hash value</a:t>
            </a:r>
          </a:p>
          <a:p>
            <a:r>
              <a:rPr lang="en-US" dirty="0"/>
              <a:t>E.g.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"SPOT"</a:t>
            </a:r>
            <a:r>
              <a:rPr lang="en-US" dirty="0"/>
              <a:t> has these character values: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{83, 80, 79, 84}</a:t>
            </a:r>
          </a:p>
          <a:p>
            <a:r>
              <a:rPr lang="en-CA" dirty="0"/>
              <a:t>You could just add them up</a:t>
            </a:r>
          </a:p>
          <a:p>
            <a:pPr lvl="1"/>
            <a:r>
              <a:rPr lang="en-CA" dirty="0"/>
              <a:t>h(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"SPOT")</a:t>
            </a:r>
            <a:r>
              <a:rPr lang="en-US" dirty="0">
                <a:cs typeface="Consolas" panose="020B0609020204030204" pitchFamily="49" charset="0"/>
              </a:rPr>
              <a:t> = 83 + 80 + 79 + 84 = 326</a:t>
            </a:r>
          </a:p>
          <a:p>
            <a:r>
              <a:rPr lang="en-US" dirty="0">
                <a:cs typeface="Consolas" panose="020B0609020204030204" pitchFamily="49" charset="0"/>
              </a:rPr>
              <a:t>But permutations of strings have the same hash value</a:t>
            </a:r>
          </a:p>
          <a:p>
            <a:pPr lvl="1"/>
            <a:r>
              <a:rPr lang="en-CA" dirty="0"/>
              <a:t>h(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"POTS")</a:t>
            </a:r>
            <a:r>
              <a:rPr lang="en-US" dirty="0">
                <a:cs typeface="Consolas" panose="020B0609020204030204" pitchFamily="49" charset="0"/>
              </a:rPr>
              <a:t> = 84 + 80 + 79 + 83 = 326</a:t>
            </a:r>
          </a:p>
          <a:p>
            <a:pPr lvl="1"/>
            <a:r>
              <a:rPr lang="en-CA" dirty="0"/>
              <a:t>h(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"POST")</a:t>
            </a:r>
            <a:r>
              <a:rPr lang="en-US" dirty="0">
                <a:cs typeface="Consolas" panose="020B0609020204030204" pitchFamily="49" charset="0"/>
              </a:rPr>
              <a:t> = 80 + 79 + 83 + 84 = 326</a:t>
            </a:r>
          </a:p>
          <a:p>
            <a:pPr marL="457200" lvl="1" indent="0">
              <a:buNone/>
            </a:pPr>
            <a:endParaRPr lang="en-US" dirty="0">
              <a:cs typeface="Consolas" panose="020B0609020204030204" pitchFamily="49" charset="0"/>
            </a:endParaRPr>
          </a:p>
          <a:p>
            <a:pPr lvl="1"/>
            <a:endParaRPr lang="en-CA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035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9E568-4989-0549-CE21-667A3FE9E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Hash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24AE7-CF06-4D88-95F4-374AEAC688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So instead of adding the individual character values, a </a:t>
                </a:r>
                <a:r>
                  <a:rPr lang="en-US" b="1" dirty="0"/>
                  <a:t>polynomial hash code</a:t>
                </a:r>
                <a:r>
                  <a:rPr lang="en-US" dirty="0"/>
                  <a:t> function is often used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…,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are the numeric values of the characters of the string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is a fixed constant value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24AE7-CF06-4D88-95F4-374AEAC688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1296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FB99B-B191-E054-0759-2C10497E2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C7591-0503-B968-9C64-15A9E9E32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Hash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6B2C1F-6726-4C67-7E2F-39807B6ECA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So instead of adding the individual character values, a </a:t>
                </a:r>
                <a:r>
                  <a:rPr lang="en-US" b="1" dirty="0"/>
                  <a:t>polynomial hash code</a:t>
                </a:r>
                <a:r>
                  <a:rPr lang="en-US" dirty="0"/>
                  <a:t> function is often used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Notice that if you do all the multiplications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terms, you do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+…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+2+1=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−2)(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 which is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But it is possible to use only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multiplications …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6B2C1F-6726-4C67-7E2F-39807B6ECA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235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1DDD7-EEB7-A191-D8B7-1250C9883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75C1B-D9EB-783B-CA96-B6E7DAA11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Hash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93DA7-0287-11E0-52B2-FC1BEC470B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So instead of adding the individual character values, a </a:t>
                </a:r>
                <a:r>
                  <a:rPr lang="en-US" b="1" dirty="0"/>
                  <a:t>polynomial hash code</a:t>
                </a:r>
                <a:r>
                  <a:rPr lang="en-US" dirty="0"/>
                  <a:t> function is often used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CA" b="1" dirty="0"/>
                  <a:t>Horner’s rule </a:t>
                </a:r>
                <a:r>
                  <a:rPr lang="en-CA" dirty="0"/>
                  <a:t>evaluates a polynomial doing only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comparisons for the powers. The idea to is evaluate the powers of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CA" dirty="0"/>
                  <a:t> as you go. It is equivalent to evaluating the Polynomial in this way:</a:t>
                </a:r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b>
                          </m:s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CA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b>
                                    <m:sSub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93DA7-0287-11E0-52B2-FC1BEC470B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r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4467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EE59F-B6C9-7CFF-80C7-739472485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4775-295C-15F6-CAF1-4AF0F6C9B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Hash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4CE27B-78F3-0D2B-1085-047E8FF3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027695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So instead of adding the individual character </a:t>
                </a:r>
                <a:br>
                  <a:rPr lang="en-US" dirty="0"/>
                </a:br>
                <a:r>
                  <a:rPr lang="en-US" dirty="0"/>
                  <a:t>values, a </a:t>
                </a:r>
                <a:r>
                  <a:rPr lang="en-US" b="1" dirty="0"/>
                  <a:t>polynomial hash code</a:t>
                </a:r>
                <a:r>
                  <a:rPr lang="en-US" dirty="0"/>
                  <a:t> function is </a:t>
                </a:r>
                <a:br>
                  <a:rPr lang="en-US" dirty="0"/>
                </a:br>
                <a:r>
                  <a:rPr lang="en-US" dirty="0"/>
                  <a:t>often used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CA" b="1" dirty="0"/>
                  <a:t>Horner’s rule </a:t>
                </a:r>
                <a:r>
                  <a:rPr lang="en-CA" dirty="0"/>
                  <a:t>evaluates a polynomial doing only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comparisons for the powers. The idea to is evaluate the powers of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CA" dirty="0"/>
                  <a:t> as you go. It is equivalent to evaluating the Polynomial in this way:</a:t>
                </a:r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b>
                          </m:s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CA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b>
                                    <m:sSub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4CE27B-78F3-0D2B-1085-047E8FF3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027695" cy="4351338"/>
              </a:xfrm>
              <a:blipFill>
                <a:blip r:embed="rId2"/>
                <a:stretch>
                  <a:fillRect l="-1266" t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A5B7822-ACA2-B07F-ADF1-D87497673CBA}"/>
              </a:ext>
            </a:extLst>
          </p:cNvPr>
          <p:cNvSpPr txBox="1"/>
          <p:nvPr/>
        </p:nvSpPr>
        <p:spPr>
          <a:xfrm>
            <a:off x="7924018" y="233038"/>
            <a:ext cx="4084721" cy="262687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endParaRPr lang="en-CA" sz="2000" b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CA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 hash(const string &amp;s) {</a:t>
            </a:r>
            <a:endParaRPr lang="en-CA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CA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CA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 h = 0;</a:t>
            </a:r>
          </a:p>
          <a:p>
            <a:pPr>
              <a:lnSpc>
                <a:spcPts val="1350"/>
              </a:lnSpc>
              <a:buNone/>
            </a:pPr>
            <a:endParaRPr lang="en-CA" sz="2000" b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CA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for (char c : s) {</a:t>
            </a:r>
          </a:p>
          <a:p>
            <a:pPr>
              <a:lnSpc>
                <a:spcPts val="1350"/>
              </a:lnSpc>
              <a:buNone/>
            </a:pPr>
            <a:endParaRPr lang="en-CA" sz="2000" b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CA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h = h * 31 + c;</a:t>
            </a:r>
          </a:p>
          <a:p>
            <a:pPr>
              <a:lnSpc>
                <a:spcPts val="1350"/>
              </a:lnSpc>
              <a:buNone/>
            </a:pPr>
            <a:endParaRPr lang="en-CA" sz="2000" b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CA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pPr>
              <a:lnSpc>
                <a:spcPts val="1350"/>
              </a:lnSpc>
              <a:buNone/>
            </a:pPr>
            <a:endParaRPr lang="en-CA" sz="2000" b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CA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return h;</a:t>
            </a:r>
          </a:p>
          <a:p>
            <a:pPr>
              <a:lnSpc>
                <a:spcPts val="1350"/>
              </a:lnSpc>
              <a:buNone/>
            </a:pPr>
            <a:endParaRPr lang="en-CA" sz="2000" b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CA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CDE8727-11F9-2EFC-2303-A9A25461CE11}"/>
              </a:ext>
            </a:extLst>
          </p:cNvPr>
          <p:cNvCxnSpPr>
            <a:cxnSpLocks/>
          </p:cNvCxnSpPr>
          <p:nvPr/>
        </p:nvCxnSpPr>
        <p:spPr>
          <a:xfrm flipV="1">
            <a:off x="8902840" y="2991998"/>
            <a:ext cx="562707" cy="2162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631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E288-9E00-06B1-6C7B-E3A21290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Hash Code Strategies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43ED54-F3D4-9335-51BA-D2C54950CB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For strings: replace multiplication with bit-shifting</a:t>
                </a:r>
              </a:p>
              <a:p>
                <a:r>
                  <a:rPr lang="en-US" dirty="0"/>
                  <a:t>For floating point types: treat the bits of the numbers like they are characters and use a string hash function</a:t>
                </a:r>
              </a:p>
              <a:p>
                <a:pPr lvl="1"/>
                <a:r>
                  <a:rPr lang="en-US" dirty="0"/>
                  <a:t>Converting the 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float</a:t>
                </a:r>
                <a:r>
                  <a:rPr lang="en-US" dirty="0"/>
                  <a:t> to an 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dirty="0"/>
                  <a:t> would not result in varied hash functions</a:t>
                </a:r>
              </a:p>
              <a:p>
                <a:r>
                  <a:rPr lang="en-US" b="1" dirty="0"/>
                  <a:t>Cryptographic hash functions</a:t>
                </a:r>
              </a:p>
              <a:p>
                <a:pPr lvl="1"/>
                <a:r>
                  <a:rPr lang="en-US" dirty="0"/>
                  <a:t>Tend to be too slow for general-purpose map data structures</a:t>
                </a:r>
              </a:p>
              <a:p>
                <a:pPr lvl="2"/>
                <a:r>
                  <a:rPr lang="en-US" dirty="0"/>
                  <a:t>But do have uses, e.g. Git version control stores files using a cryptographic hash function</a:t>
                </a:r>
              </a:p>
              <a:p>
                <a:pPr lvl="1"/>
                <a:r>
                  <a:rPr lang="en-US" dirty="0"/>
                  <a:t>But they give varied values that look essentially random, and given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there is practically no way to determine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𝑘𝑒𝑦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They’re implementation is more elaborate, and designed to thwart hackers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43ED54-F3D4-9335-51BA-D2C54950CB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304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931B7-8385-3CFB-4C29-ABCAD0D6D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Resolutions Schemes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81F7E-27A4-9785-D266-24A57BCC3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you do when two keys hash to the same location?</a:t>
            </a:r>
          </a:p>
          <a:p>
            <a:pPr lvl="1"/>
            <a:r>
              <a:rPr lang="en-US" dirty="0"/>
              <a:t>Could use a bucket array</a:t>
            </a:r>
          </a:p>
          <a:p>
            <a:r>
              <a:rPr lang="en-US" dirty="0"/>
              <a:t>If we store the values directly in an array, there are some common ways to resolve collisions</a:t>
            </a:r>
          </a:p>
          <a:p>
            <a:pPr lvl="1"/>
            <a:r>
              <a:rPr lang="en-US" dirty="0"/>
              <a:t>Linear probing</a:t>
            </a:r>
          </a:p>
          <a:p>
            <a:pPr lvl="1"/>
            <a:r>
              <a:rPr lang="en-US" dirty="0"/>
              <a:t>Quadratic probing</a:t>
            </a:r>
          </a:p>
          <a:p>
            <a:pPr lvl="1"/>
            <a:r>
              <a:rPr lang="en-US" dirty="0"/>
              <a:t>Double hashing</a:t>
            </a:r>
          </a:p>
          <a:p>
            <a:r>
              <a:rPr lang="en-US" dirty="0"/>
              <a:t>We now assume a single array of size N that stores the values</a:t>
            </a:r>
          </a:p>
        </p:txBody>
      </p:sp>
    </p:spTree>
    <p:extLst>
      <p:ext uri="{BB962C8B-B14F-4D97-AF65-F5344CB8AC3E}">
        <p14:creationId xmlns:p14="http://schemas.microsoft.com/office/powerpoint/2010/main" val="2271822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D34DB-9ED4-F417-2D9C-3CB0711C7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64FAD-A12D-070E-4693-DD63C7D9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Resolution: </a:t>
            </a:r>
            <a:r>
              <a:rPr lang="en-US" dirty="0">
                <a:solidFill>
                  <a:srgbClr val="FF0000"/>
                </a:solidFill>
              </a:rPr>
              <a:t>Linear Probing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2F838A-F174-3505-6C5B-5F8374E2AE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</p:spPr>
            <p:txBody>
              <a:bodyPr/>
              <a:lstStyle/>
              <a:p>
                <a:r>
                  <a:rPr lang="en-US" dirty="0"/>
                  <a:t>When there’s already a key at a location in the array, do a linear search (to the right) to find the next free location</a:t>
                </a:r>
              </a:p>
              <a:p>
                <a:pPr lvl="1"/>
                <a:r>
                  <a:rPr lang="en-US" dirty="0"/>
                  <a:t>If the search goes off the end of the array, wrap-around to the beginning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7</m:t>
                    </m:r>
                  </m:oMath>
                </a14:m>
                <a:r>
                  <a:rPr lang="en-US" dirty="0"/>
                  <a:t>, and use </a:t>
                </a:r>
                <a:r>
                  <a:rPr lang="en-US" dirty="0">
                    <a:solidFill>
                      <a:srgbClr val="FF0000"/>
                    </a:solidFill>
                  </a:rPr>
                  <a:t>linear probing </a:t>
                </a:r>
                <a:r>
                  <a:rPr lang="en-US" dirty="0"/>
                  <a:t>to insert these values: 5, 8, 15, 6, 12, 14</a:t>
                </a:r>
              </a:p>
              <a:p>
                <a:pPr lvl="1"/>
                <a:r>
                  <a:rPr lang="en-US" dirty="0"/>
                  <a:t>Try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)+2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)+3</m:t>
                    </m:r>
                  </m:oMath>
                </a14:m>
                <a:r>
                  <a:rPr lang="en-US" dirty="0"/>
                  <a:t>, … (wrap-around if needed)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2F838A-F174-3505-6C5B-5F8374E2AE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  <a:blipFill>
                <a:blip r:embed="rId2"/>
                <a:stretch>
                  <a:fillRect l="-1086" t="-3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50AE41-DA4B-3C4D-7AE2-0C23C822C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306337"/>
              </p:ext>
            </p:extLst>
          </p:nvPr>
        </p:nvGraphicFramePr>
        <p:xfrm>
          <a:off x="413098" y="4943789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134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474CA-D392-80A3-347A-BD000823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E776D-4B71-49E6-1D22-4370386B7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Resolution: </a:t>
            </a:r>
            <a:r>
              <a:rPr lang="en-US" dirty="0">
                <a:solidFill>
                  <a:srgbClr val="FF0000"/>
                </a:solidFill>
              </a:rPr>
              <a:t>Linear Probing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D5BAD2-402F-BEF2-240B-A9E9BE62B9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</p:spPr>
            <p:txBody>
              <a:bodyPr/>
              <a:lstStyle/>
              <a:p>
                <a:r>
                  <a:rPr lang="en-US" dirty="0"/>
                  <a:t>When there’s already a key at a location in the array, do a linear search (to the right) to find the next free location</a:t>
                </a:r>
              </a:p>
              <a:p>
                <a:pPr lvl="1"/>
                <a:r>
                  <a:rPr lang="en-US" dirty="0"/>
                  <a:t>If the search goes off the end of the array, wrap-around to the beginning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7</m:t>
                    </m:r>
                  </m:oMath>
                </a14:m>
                <a:r>
                  <a:rPr lang="en-US" dirty="0"/>
                  <a:t>, and use </a:t>
                </a:r>
                <a:r>
                  <a:rPr lang="en-US" dirty="0">
                    <a:solidFill>
                      <a:srgbClr val="FF0000"/>
                    </a:solidFill>
                  </a:rPr>
                  <a:t>linear probing </a:t>
                </a:r>
                <a:r>
                  <a:rPr lang="en-US" dirty="0"/>
                  <a:t>to insert these values: 5, 8, 15, 6, 12, 14</a:t>
                </a:r>
              </a:p>
              <a:p>
                <a:pPr lvl="1"/>
                <a:r>
                  <a:rPr lang="en-US" dirty="0"/>
                  <a:t>Try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)+2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)+3</m:t>
                    </m:r>
                  </m:oMath>
                </a14:m>
                <a:r>
                  <a:rPr lang="en-US" dirty="0"/>
                  <a:t>, … (wrap-around if needed)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D5BAD2-402F-BEF2-240B-A9E9BE62B9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  <a:blipFill>
                <a:blip r:embed="rId2"/>
                <a:stretch>
                  <a:fillRect l="-1086" t="-3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55629C-D6FC-6A4B-CCEF-43A1717BD0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96913"/>
              </p:ext>
            </p:extLst>
          </p:nvPr>
        </p:nvGraphicFramePr>
        <p:xfrm>
          <a:off x="413098" y="4943789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4757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77E-12EB-8417-D902-D87A38C96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9C973-DAE5-3AD8-D142-6297EDB0E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Resolution: </a:t>
            </a:r>
            <a:r>
              <a:rPr lang="en-US" dirty="0">
                <a:solidFill>
                  <a:srgbClr val="FF0000"/>
                </a:solidFill>
              </a:rPr>
              <a:t>Linear Probing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D64849-B137-714A-F6DC-CB81CDA419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</p:spPr>
            <p:txBody>
              <a:bodyPr/>
              <a:lstStyle/>
              <a:p>
                <a:r>
                  <a:rPr lang="en-US" dirty="0"/>
                  <a:t>When there’s already a key at a location in the array, do a linear search (to the right) to find the next free location</a:t>
                </a:r>
              </a:p>
              <a:p>
                <a:pPr lvl="1"/>
                <a:r>
                  <a:rPr lang="en-US" dirty="0"/>
                  <a:t>If the search goes off the end of the array, wrap-around to the beginning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7</m:t>
                    </m:r>
                  </m:oMath>
                </a14:m>
                <a:r>
                  <a:rPr lang="en-US" dirty="0"/>
                  <a:t>, and use </a:t>
                </a:r>
                <a:r>
                  <a:rPr lang="en-US" dirty="0">
                    <a:solidFill>
                      <a:srgbClr val="FF0000"/>
                    </a:solidFill>
                  </a:rPr>
                  <a:t>linear probing </a:t>
                </a:r>
                <a:r>
                  <a:rPr lang="en-US" dirty="0"/>
                  <a:t>to insert these values: 5, 8, 15, 6, 12, 14</a:t>
                </a:r>
              </a:p>
              <a:p>
                <a:pPr lvl="1"/>
                <a:r>
                  <a:rPr lang="en-US" dirty="0"/>
                  <a:t>Try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)+2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)+3</m:t>
                    </m:r>
                  </m:oMath>
                </a14:m>
                <a:r>
                  <a:rPr lang="en-US" dirty="0"/>
                  <a:t>, … (wrap-around if needed)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D64849-B137-714A-F6DC-CB81CDA419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  <a:blipFill>
                <a:blip r:embed="rId2"/>
                <a:stretch>
                  <a:fillRect l="-1086" t="-3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5AC55B-9FB1-D688-7667-33EAA3E97A43}"/>
              </a:ext>
            </a:extLst>
          </p:cNvPr>
          <p:cNvGraphicFramePr>
            <a:graphicFrameLocks noGrp="1"/>
          </p:cNvGraphicFramePr>
          <p:nvPr/>
        </p:nvGraphicFramePr>
        <p:xfrm>
          <a:off x="413098" y="4943789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B408F30-7E2C-F9CA-C2E6-CC4DFFA2E39F}"/>
              </a:ext>
            </a:extLst>
          </p:cNvPr>
          <p:cNvSpPr txBox="1"/>
          <p:nvPr/>
        </p:nvSpPr>
        <p:spPr>
          <a:xfrm>
            <a:off x="8832501" y="4533226"/>
            <a:ext cx="327576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Problem</a:t>
            </a:r>
            <a:r>
              <a:rPr lang="en-US" dirty="0"/>
              <a:t>: </a:t>
            </a:r>
            <a:r>
              <a:rPr lang="en-US" b="1" dirty="0">
                <a:solidFill>
                  <a:srgbClr val="FF0000"/>
                </a:solidFill>
              </a:rPr>
              <a:t>linear probing</a:t>
            </a:r>
            <a:r>
              <a:rPr lang="en-US" dirty="0"/>
              <a:t> tends to cause values to cluster, known as </a:t>
            </a:r>
            <a:r>
              <a:rPr lang="en-US" b="1" dirty="0"/>
              <a:t>primary clustering</a:t>
            </a:r>
            <a:r>
              <a:rPr lang="en-US" dirty="0"/>
              <a:t>. Clusters significantly degrade performance.</a:t>
            </a:r>
          </a:p>
        </p:txBody>
      </p:sp>
    </p:spTree>
    <p:extLst>
      <p:ext uri="{BB962C8B-B14F-4D97-AF65-F5344CB8AC3E}">
        <p14:creationId xmlns:p14="http://schemas.microsoft.com/office/powerpoint/2010/main" val="3353740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7675B-933C-2420-AB47-3E46790A0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C05CF-5BAD-47B8-3FB1-194E09F3C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Resolution: </a:t>
            </a:r>
            <a:r>
              <a:rPr lang="en-US" dirty="0">
                <a:solidFill>
                  <a:srgbClr val="FF0000"/>
                </a:solidFill>
              </a:rPr>
              <a:t>Quadratic Probing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B55DB3-82FD-8C68-43E7-F3A52B47BE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</p:spPr>
            <p:txBody>
              <a:bodyPr/>
              <a:lstStyle/>
              <a:p>
                <a:r>
                  <a:rPr lang="en-US" dirty="0"/>
                  <a:t>Like linear probing, but go in quadratic steps</a:t>
                </a:r>
              </a:p>
              <a:p>
                <a:pPr lvl="1"/>
                <a:r>
                  <a:rPr lang="en-US" dirty="0"/>
                  <a:t>If the search goes off the end of the array, wrap-around to the beginning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7</m:t>
                    </m:r>
                  </m:oMath>
                </a14:m>
                <a:r>
                  <a:rPr lang="en-US" dirty="0"/>
                  <a:t>, and use </a:t>
                </a:r>
                <a:r>
                  <a:rPr lang="en-US" dirty="0">
                    <a:solidFill>
                      <a:srgbClr val="FF0000"/>
                    </a:solidFill>
                  </a:rPr>
                  <a:t>quadratic probing </a:t>
                </a:r>
                <a:r>
                  <a:rPr lang="en-US" dirty="0"/>
                  <a:t>to insert these values: 5, 4, 11, 7, 14</a:t>
                </a:r>
              </a:p>
              <a:p>
                <a:pPr lvl="1"/>
                <a:r>
                  <a:rPr lang="en-US" dirty="0"/>
                  <a:t>Try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… (wrap-around if needed)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B55DB3-82FD-8C68-43E7-F3A52B47BE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  <a:blipFill>
                <a:blip r:embed="rId2"/>
                <a:stretch>
                  <a:fillRect l="-1086" t="-3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F5F22A-A5B1-926D-3C85-9C8B14DB0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944736"/>
              </p:ext>
            </p:extLst>
          </p:nvPr>
        </p:nvGraphicFramePr>
        <p:xfrm>
          <a:off x="203200" y="4901050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18390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B3787-5D74-6649-FD5B-2AAE16DEE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DE04F-036E-87D2-F273-5DB58F1FE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Resolution: </a:t>
            </a:r>
            <a:r>
              <a:rPr lang="en-US" dirty="0">
                <a:solidFill>
                  <a:srgbClr val="FF0000"/>
                </a:solidFill>
              </a:rPr>
              <a:t>Quadratic Probing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8F387-5FBF-1583-8C90-6588BA6BE0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</p:spPr>
            <p:txBody>
              <a:bodyPr/>
              <a:lstStyle/>
              <a:p>
                <a:r>
                  <a:rPr lang="en-US" dirty="0"/>
                  <a:t>Like linear probing, but go in quadratic steps</a:t>
                </a:r>
              </a:p>
              <a:p>
                <a:pPr lvl="1"/>
                <a:r>
                  <a:rPr lang="en-US" dirty="0"/>
                  <a:t>If the search goes off the end of the array, wrap-around to the beginning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7</m:t>
                    </m:r>
                  </m:oMath>
                </a14:m>
                <a:r>
                  <a:rPr lang="en-US" dirty="0"/>
                  <a:t>, and use </a:t>
                </a:r>
                <a:r>
                  <a:rPr lang="en-US" dirty="0">
                    <a:solidFill>
                      <a:srgbClr val="FF0000"/>
                    </a:solidFill>
                  </a:rPr>
                  <a:t>quadratic probing </a:t>
                </a:r>
                <a:r>
                  <a:rPr lang="en-US" dirty="0"/>
                  <a:t>to insert these values: 5, 4, 11, 7, 14</a:t>
                </a:r>
              </a:p>
              <a:p>
                <a:pPr lvl="1"/>
                <a:r>
                  <a:rPr lang="en-US" dirty="0"/>
                  <a:t>Try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… (wrap-around if needed)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8F387-5FBF-1583-8C90-6588BA6BE0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  <a:blipFill>
                <a:blip r:embed="rId2"/>
                <a:stretch>
                  <a:fillRect l="-1086" t="-3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111684-EDEA-B482-1038-B62E6715C17B}"/>
              </a:ext>
            </a:extLst>
          </p:cNvPr>
          <p:cNvGraphicFramePr>
            <a:graphicFrameLocks noGrp="1"/>
          </p:cNvGraphicFramePr>
          <p:nvPr/>
        </p:nvGraphicFramePr>
        <p:xfrm>
          <a:off x="203200" y="4901050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59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52315-5932-7629-EEBB-913C64EC0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91D19-54AC-CA3C-A3AB-052CDE0A0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Resolution: </a:t>
            </a:r>
            <a:r>
              <a:rPr lang="en-US" dirty="0">
                <a:solidFill>
                  <a:srgbClr val="FF0000"/>
                </a:solidFill>
              </a:rPr>
              <a:t>Quadratic Probing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19717F-0332-6B48-3CBC-3FDCA2E83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</p:spPr>
            <p:txBody>
              <a:bodyPr/>
              <a:lstStyle/>
              <a:p>
                <a:r>
                  <a:rPr lang="en-US" dirty="0"/>
                  <a:t>Like linear probing, but go in quadratic steps</a:t>
                </a:r>
              </a:p>
              <a:p>
                <a:pPr lvl="1"/>
                <a:r>
                  <a:rPr lang="en-US" dirty="0"/>
                  <a:t>If the search goes off the end of the array, wrap-around to the beginning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7</m:t>
                    </m:r>
                  </m:oMath>
                </a14:m>
                <a:r>
                  <a:rPr lang="en-US" dirty="0"/>
                  <a:t>, and use </a:t>
                </a:r>
                <a:r>
                  <a:rPr lang="en-US" dirty="0">
                    <a:solidFill>
                      <a:srgbClr val="FF0000"/>
                    </a:solidFill>
                  </a:rPr>
                  <a:t>quadratic probing </a:t>
                </a:r>
                <a:r>
                  <a:rPr lang="en-US" dirty="0"/>
                  <a:t>to insert these values: 5, 4, 11, 7, 14</a:t>
                </a:r>
              </a:p>
              <a:p>
                <a:pPr lvl="1"/>
                <a:r>
                  <a:rPr lang="en-US" dirty="0"/>
                  <a:t>Try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… (wrap-around if needed)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19717F-0332-6B48-3CBC-3FDCA2E83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  <a:blipFill>
                <a:blip r:embed="rId2"/>
                <a:stretch>
                  <a:fillRect l="-1086" t="-3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643A7A-671F-3559-72DE-3BCA7B54B5B1}"/>
              </a:ext>
            </a:extLst>
          </p:cNvPr>
          <p:cNvGraphicFramePr>
            <a:graphicFrameLocks noGrp="1"/>
          </p:cNvGraphicFramePr>
          <p:nvPr/>
        </p:nvGraphicFramePr>
        <p:xfrm>
          <a:off x="203200" y="4901050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C4B99D3-4F33-0912-8FBE-8DF65DE2A607}"/>
              </a:ext>
            </a:extLst>
          </p:cNvPr>
          <p:cNvSpPr txBox="1"/>
          <p:nvPr/>
        </p:nvSpPr>
        <p:spPr>
          <a:xfrm>
            <a:off x="8721969" y="4533226"/>
            <a:ext cx="338629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Problem</a:t>
            </a:r>
            <a:r>
              <a:rPr lang="en-US" dirty="0"/>
              <a:t>: </a:t>
            </a:r>
            <a:r>
              <a:rPr lang="en-US" b="1" dirty="0">
                <a:solidFill>
                  <a:srgbClr val="FF0000"/>
                </a:solidFill>
              </a:rPr>
              <a:t>quadratic probing</a:t>
            </a:r>
            <a:r>
              <a:rPr lang="en-US" b="1" dirty="0"/>
              <a:t> </a:t>
            </a:r>
            <a:r>
              <a:rPr lang="en-US" dirty="0"/>
              <a:t>avoids primary clustering, but can still have patterns called </a:t>
            </a:r>
            <a:r>
              <a:rPr lang="en-US" b="1" dirty="0"/>
              <a:t>secondary clustering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7667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DB8FA-9C90-B6CA-94A3-670157999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79D2F-4CBC-E2D2-F03C-5A3D0EC52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Resolution: </a:t>
            </a:r>
            <a:r>
              <a:rPr lang="en-US" dirty="0">
                <a:solidFill>
                  <a:srgbClr val="FF0000"/>
                </a:solidFill>
              </a:rPr>
              <a:t>Double Hashing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9AB1B5-D4B3-96D4-39F8-EB93685720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</p:spPr>
            <p:txBody>
              <a:bodyPr/>
              <a:lstStyle/>
              <a:p>
                <a:r>
                  <a:rPr lang="en-US" dirty="0"/>
                  <a:t>Like linear probing, but use another hash function (that can’t ever return 0) for the steps</a:t>
                </a:r>
              </a:p>
              <a:p>
                <a:pPr lvl="1"/>
                <a:r>
                  <a:rPr lang="en-US" dirty="0"/>
                  <a:t>If the search goes off the end of the array, wrap-around to the beginning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7</m:t>
                    </m:r>
                  </m:oMath>
                </a14:m>
                <a:r>
                  <a:rPr lang="en-US" dirty="0"/>
                  <a:t>, and use </a:t>
                </a:r>
                <a:r>
                  <a:rPr lang="en-US" dirty="0">
                    <a:solidFill>
                      <a:srgbClr val="FF0000"/>
                    </a:solidFill>
                  </a:rPr>
                  <a:t>double hashing </a:t>
                </a:r>
                <a:r>
                  <a:rPr lang="en-US" dirty="0"/>
                  <a:t>with</a:t>
                </a: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)=5 –(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5)</m:t>
                    </m:r>
                  </m:oMath>
                </a14:m>
                <a:r>
                  <a:rPr lang="en-US" dirty="0"/>
                  <a:t> to insert these values: 5, 4, 11, 7, 14</a:t>
                </a:r>
              </a:p>
              <a:p>
                <a:pPr lvl="1"/>
                <a:r>
                  <a:rPr lang="en-US" dirty="0"/>
                  <a:t>Try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1⋅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… (wrap-around if needed)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9AB1B5-D4B3-96D4-39F8-EB93685720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  <a:blipFill>
                <a:blip r:embed="rId2"/>
                <a:stretch>
                  <a:fillRect l="-1086" t="-3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3ABB19-8049-6794-8BD9-5BC58C65B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753847"/>
              </p:ext>
            </p:extLst>
          </p:nvPr>
        </p:nvGraphicFramePr>
        <p:xfrm>
          <a:off x="203200" y="4901050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95424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827AD-4B98-2685-09C0-855C03ACF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Deletion with Tombstones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2411E-57EE-090F-208F-5BB8AD9A5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hash table that uses linear probing or variations, you can’t just delete items</a:t>
            </a:r>
          </a:p>
          <a:p>
            <a:r>
              <a:rPr lang="en-US" dirty="0"/>
              <a:t>Deleting an item breaks the chain of items needed to find/put other items</a:t>
            </a:r>
          </a:p>
          <a:p>
            <a:r>
              <a:rPr lang="en-US" dirty="0"/>
              <a:t>Standard solution: </a:t>
            </a:r>
            <a:r>
              <a:rPr lang="en-US" b="1" dirty="0"/>
              <a:t>tombstones</a:t>
            </a:r>
          </a:p>
          <a:p>
            <a:pPr lvl="1"/>
            <a:r>
              <a:rPr lang="en-US" dirty="0"/>
              <a:t>When you delete an item, but a tombstone in its place, i.e. mark it as deleted but not empty so that find/put keeps working</a:t>
            </a:r>
          </a:p>
          <a:p>
            <a:pPr lvl="1"/>
            <a:r>
              <a:rPr lang="en-US" dirty="0"/>
              <a:t>Over time tombstones can degrade performance, and so you may need to re-hash the table occasionally</a:t>
            </a:r>
          </a:p>
        </p:txBody>
      </p:sp>
    </p:spTree>
    <p:extLst>
      <p:ext uri="{BB962C8B-B14F-4D97-AF65-F5344CB8AC3E}">
        <p14:creationId xmlns:p14="http://schemas.microsoft.com/office/powerpoint/2010/main" val="3102504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61E54-F259-50F2-46DE-9E1A91C9D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194B4-47D6-F612-D86B-BE31F7187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with Tombstones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860A86-30F3-3AE4-9FE3-2D36B28AC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510455"/>
              </p:ext>
            </p:extLst>
          </p:nvPr>
        </p:nvGraphicFramePr>
        <p:xfrm>
          <a:off x="1090803" y="2039702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C34C011-1DCA-A05B-4288-99D49FFA5CE6}"/>
              </a:ext>
            </a:extLst>
          </p:cNvPr>
          <p:cNvSpPr txBox="1"/>
          <p:nvPr/>
        </p:nvSpPr>
        <p:spPr>
          <a:xfrm>
            <a:off x="9787094" y="2505670"/>
            <a:ext cx="220058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you delete 8 and replace it with an empty slot, then you can’t find 15!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FE9EC2-CCED-BE04-FEAF-F89AF9DF18C8}"/>
              </a:ext>
            </a:extLst>
          </p:cNvPr>
          <p:cNvSpPr txBox="1"/>
          <p:nvPr/>
        </p:nvSpPr>
        <p:spPr>
          <a:xfrm>
            <a:off x="2558980" y="1467692"/>
            <a:ext cx="1634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h(k) = k mod 7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7B1AC49-E946-3396-A6B3-9009294A1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622194"/>
              </p:ext>
            </p:extLst>
          </p:nvPr>
        </p:nvGraphicFramePr>
        <p:xfrm>
          <a:off x="1090803" y="3263744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17C5887-766B-D890-B20A-45CD021AC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572380"/>
              </p:ext>
            </p:extLst>
          </p:nvPr>
        </p:nvGraphicFramePr>
        <p:xfrm>
          <a:off x="1090802" y="4822914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  <p:sp>
        <p:nvSpPr>
          <p:cNvPr id="7" name="Delay 6">
            <a:extLst>
              <a:ext uri="{FF2B5EF4-FFF2-40B4-BE49-F238E27FC236}">
                <a16:creationId xmlns:a16="http://schemas.microsoft.com/office/drawing/2014/main" id="{E0B7FB12-38EE-5A86-E557-4992EAFA9898}"/>
              </a:ext>
            </a:extLst>
          </p:cNvPr>
          <p:cNvSpPr/>
          <p:nvPr/>
        </p:nvSpPr>
        <p:spPr>
          <a:xfrm rot="16200000">
            <a:off x="2715129" y="5270916"/>
            <a:ext cx="277352" cy="238784"/>
          </a:xfrm>
          <a:prstGeom prst="flowChartDela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3A59A8-6D9B-258F-C224-09AA39433572}"/>
              </a:ext>
            </a:extLst>
          </p:cNvPr>
          <p:cNvSpPr txBox="1"/>
          <p:nvPr/>
        </p:nvSpPr>
        <p:spPr>
          <a:xfrm>
            <a:off x="2973197" y="5805796"/>
            <a:ext cx="337457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Instead, flag it has “deleted” but not empty, so that the chain of elements is not broken.</a:t>
            </a:r>
          </a:p>
        </p:txBody>
      </p:sp>
    </p:spTree>
    <p:extLst>
      <p:ext uri="{BB962C8B-B14F-4D97-AF65-F5344CB8AC3E}">
        <p14:creationId xmlns:p14="http://schemas.microsoft.com/office/powerpoint/2010/main" val="2008066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F806C-8F07-C125-3625-EB3035D81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Factors and Rehashing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A6DE2A-2BD8-50ED-44F2-CF1134FC8B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51583"/>
                <a:ext cx="10515600" cy="17543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Load factor </a:t>
                </a:r>
                <a:r>
                  <a:rPr lang="en-US" dirty="0"/>
                  <a:t>of a hash table 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containing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keys: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A6DE2A-2BD8-50ED-44F2-CF1134FC8B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51583"/>
                <a:ext cx="10515600" cy="1754325"/>
              </a:xfrm>
              <a:blipFill>
                <a:blip r:embed="rId2"/>
                <a:stretch>
                  <a:fillRect l="-1206" t="-57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F02DA4-BA3F-F812-4F00-2C25BBC548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424045"/>
              </p:ext>
            </p:extLst>
          </p:nvPr>
        </p:nvGraphicFramePr>
        <p:xfrm>
          <a:off x="1810936" y="3670647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693F77-BD6E-6B8B-2DFE-1D9DD6B9E6F0}"/>
                  </a:ext>
                </a:extLst>
              </p:cNvPr>
              <p:cNvSpPr txBox="1"/>
              <p:nvPr/>
            </p:nvSpPr>
            <p:spPr>
              <a:xfrm>
                <a:off x="1810936" y="4656101"/>
                <a:ext cx="3162998" cy="909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CA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CA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CA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CA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CA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=0.71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693F77-BD6E-6B8B-2DFE-1D9DD6B9E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936" y="4656101"/>
                <a:ext cx="3162998" cy="909031"/>
              </a:xfrm>
              <a:prstGeom prst="rect">
                <a:avLst/>
              </a:prstGeom>
              <a:blipFill>
                <a:blip r:embed="rId3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519F2A2-381D-29AE-28A9-CBE1DF2F498B}"/>
              </a:ext>
            </a:extLst>
          </p:cNvPr>
          <p:cNvSpPr txBox="1"/>
          <p:nvPr/>
        </p:nvSpPr>
        <p:spPr>
          <a:xfrm>
            <a:off x="8430567" y="4533226"/>
            <a:ext cx="3677696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Rule of Thumb</a:t>
            </a:r>
            <a:br>
              <a:rPr lang="en-US" b="1" dirty="0"/>
            </a:br>
            <a:r>
              <a:rPr lang="en-US" dirty="0"/>
              <a:t>When load factors is </a:t>
            </a:r>
            <a:r>
              <a:rPr lang="en-US" b="1" dirty="0"/>
              <a:t>over 0.5</a:t>
            </a:r>
            <a:r>
              <a:rPr lang="en-US" dirty="0"/>
              <a:t>, performance may degrade. Therefore, re-make the table by doubling the size of the underlying array and re-hashing all the values.</a:t>
            </a:r>
          </a:p>
        </p:txBody>
      </p:sp>
    </p:spTree>
    <p:extLst>
      <p:ext uri="{BB962C8B-B14F-4D97-AF65-F5344CB8AC3E}">
        <p14:creationId xmlns:p14="http://schemas.microsoft.com/office/powerpoint/2010/main" val="3533994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3D506-9BA0-4858-C663-8F9E9A770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Factors and Rehashing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8DD844-2DBD-B199-2373-1AEA9F891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load factor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≥0.5</m:t>
                    </m:r>
                  </m:oMath>
                </a14:m>
                <a:r>
                  <a:rPr lang="en-US" dirty="0"/>
                  <a:t> is generally a good sign that performance has degraded</a:t>
                </a:r>
              </a:p>
              <a:p>
                <a:r>
                  <a:rPr lang="en-US" dirty="0"/>
                  <a:t>In fact, for some collision resolution schemes hashing can get stuck in an </a:t>
                </a:r>
                <a:r>
                  <a:rPr lang="en-US" b="1" dirty="0"/>
                  <a:t>infinite loop </a:t>
                </a:r>
                <a:r>
                  <a:rPr lang="en-US" dirty="0"/>
                  <a:t>trying to find a free space!</a:t>
                </a:r>
              </a:p>
              <a:p>
                <a:r>
                  <a:rPr lang="en-US" b="1" dirty="0"/>
                  <a:t>Trade-off</a:t>
                </a:r>
                <a:r>
                  <a:rPr lang="en-US" dirty="0"/>
                  <a:t>: more hash table memory = more speed</a:t>
                </a:r>
              </a:p>
              <a:p>
                <a:r>
                  <a:rPr lang="en-US" b="1" dirty="0"/>
                  <a:t>Important</a:t>
                </a:r>
                <a:r>
                  <a:rPr lang="en-US" dirty="0"/>
                  <a:t>: the load factor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can be greater than 1 for some hash tables!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8DD844-2DBD-B199-2373-1AEA9F891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19342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55C16-8EDA-5D14-49CB-8C34F1A1C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0FDCC-9749-9260-1C9F-A1C94D0D3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Factors and Rehashing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FD305C-B261-F718-F9AE-1C6A5B9E50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94330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Important</a:t>
                </a:r>
                <a:r>
                  <a:rPr lang="en-US" dirty="0"/>
                  <a:t>: the load factor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can be greater than 1 for hash tables with buckets!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FD305C-B261-F718-F9AE-1C6A5B9E50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943307"/>
              </a:xfrm>
              <a:blipFill>
                <a:blip r:embed="rId2"/>
                <a:stretch>
                  <a:fillRect l="-1206" t="-10667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0DD81E-0F3F-04B4-0A27-D34EE15C568D}"/>
                  </a:ext>
                </a:extLst>
              </p:cNvPr>
              <p:cNvSpPr txBox="1"/>
              <p:nvPr/>
            </p:nvSpPr>
            <p:spPr>
              <a:xfrm>
                <a:off x="6750817" y="3561729"/>
                <a:ext cx="2895601" cy="900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CA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CA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CA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CA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CA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0DD81E-0F3F-04B4-0A27-D34EE15C5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817" y="3561729"/>
                <a:ext cx="2895601" cy="900246"/>
              </a:xfrm>
              <a:prstGeom prst="rect">
                <a:avLst/>
              </a:prstGeom>
              <a:blipFill>
                <a:blip r:embed="rId3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I generated image">
            <a:extLst>
              <a:ext uri="{FF2B5EF4-FFF2-40B4-BE49-F238E27FC236}">
                <a16:creationId xmlns:a16="http://schemas.microsoft.com/office/drawing/2014/main" id="{BA09D6AE-BBA6-3681-5509-4E3237FDE8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25" t="19613" r="31221"/>
          <a:stretch>
            <a:fillRect/>
          </a:stretch>
        </p:blipFill>
        <p:spPr>
          <a:xfrm>
            <a:off x="1101969" y="2768932"/>
            <a:ext cx="4994031" cy="340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3088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2EAC3-0566-A092-C360-4A847D35D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5AFFD-E1CB-3B4C-C845-241CA852F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Hash tables and maps are very common in practice</a:t>
            </a:r>
          </a:p>
          <a:p>
            <a:r>
              <a:rPr lang="en-US" dirty="0"/>
              <a:t>When implemented well, they can have excellent performance</a:t>
            </a:r>
          </a:p>
          <a:p>
            <a:pPr lvl="1"/>
            <a:r>
              <a:rPr lang="en-US" dirty="0"/>
              <a:t>They beat binary search</a:t>
            </a:r>
          </a:p>
          <a:p>
            <a:r>
              <a:rPr lang="en-US" dirty="0"/>
              <a:t>But the details matter, and they can be subtle, e.g.</a:t>
            </a:r>
          </a:p>
          <a:p>
            <a:pPr lvl="1"/>
            <a:r>
              <a:rPr lang="en-US" dirty="0"/>
              <a:t>The constants in hash functions can make a big difference</a:t>
            </a:r>
          </a:p>
          <a:p>
            <a:pPr lvl="1"/>
            <a:r>
              <a:rPr lang="en-US" dirty="0"/>
              <a:t>Prime table sizes are usually used to avoid loops and clusters</a:t>
            </a:r>
          </a:p>
          <a:p>
            <a:pPr lvl="1"/>
            <a:r>
              <a:rPr lang="en-US" dirty="0"/>
              <a:t>Experiments are generally needed to know if one hashing approach is better than another</a:t>
            </a:r>
          </a:p>
          <a:p>
            <a:r>
              <a:rPr lang="en-US" dirty="0"/>
              <a:t>We’ve only scratched the surface of hashing!</a:t>
            </a:r>
          </a:p>
          <a:p>
            <a:pPr lvl="1"/>
            <a:r>
              <a:rPr lang="en-US" dirty="0"/>
              <a:t>Many other ideas and schemes and approaches --- a vast and rich topic of study!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387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2858</Words>
  <Application>Microsoft Macintosh PowerPoint</Application>
  <PresentationFormat>Widescreen</PresentationFormat>
  <Paragraphs>389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Aptos Display</vt:lpstr>
      <vt:lpstr>Arial</vt:lpstr>
      <vt:lpstr>Cambria Math</vt:lpstr>
      <vt:lpstr>Consolas</vt:lpstr>
      <vt:lpstr>Office Theme</vt:lpstr>
      <vt:lpstr>Maps and Hashing</vt:lpstr>
      <vt:lpstr>Topics</vt:lpstr>
      <vt:lpstr>Why Are Heaps height log⁡n? </vt:lpstr>
      <vt:lpstr>The Map ADT</vt:lpstr>
      <vt:lpstr>Simple Map Implementation</vt:lpstr>
      <vt:lpstr>Simple Map Implementation</vt:lpstr>
      <vt:lpstr>Simple Map Implementation</vt:lpstr>
      <vt:lpstr>Simple Map Implementation</vt:lpstr>
      <vt:lpstr>Hash Tables</vt:lpstr>
      <vt:lpstr>Bucket Array</vt:lpstr>
      <vt:lpstr>Hash Functions: h(key)</vt:lpstr>
      <vt:lpstr>String Hash Functions</vt:lpstr>
      <vt:lpstr>String Hash Functions</vt:lpstr>
      <vt:lpstr>String Hash Functions</vt:lpstr>
      <vt:lpstr>String Hash Functions</vt:lpstr>
      <vt:lpstr>String Hash Functions</vt:lpstr>
      <vt:lpstr>Other Hash Code Strategies</vt:lpstr>
      <vt:lpstr>Collision Resolutions Schemes</vt:lpstr>
      <vt:lpstr>Collision Resolution: Linear Probing</vt:lpstr>
      <vt:lpstr>Collision Resolution: Linear Probing</vt:lpstr>
      <vt:lpstr>Collision Resolution: Linear Probing</vt:lpstr>
      <vt:lpstr>Collision Resolution: Quadratic Probing</vt:lpstr>
      <vt:lpstr>Collision Resolution: Quadratic Probing</vt:lpstr>
      <vt:lpstr>Collision Resolution: Quadratic Probing</vt:lpstr>
      <vt:lpstr>Collision Resolution: Double Hashing</vt:lpstr>
      <vt:lpstr>Deletion with Tombstones</vt:lpstr>
      <vt:lpstr>Deletion with Tombstones</vt:lpstr>
      <vt:lpstr>Load Factors and Rehashing</vt:lpstr>
      <vt:lpstr>Load Factors and Rehashing</vt:lpstr>
      <vt:lpstr>Load Factors and Rehashing</vt:lpstr>
      <vt:lpstr>Hash Tables in 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2026-06-22T23:17:30Z</dcterms:created>
  <dcterms:modified xsi:type="dcterms:W3CDTF">2026-06-23T20:03:12Z</dcterms:modified>
</cp:coreProperties>
</file>